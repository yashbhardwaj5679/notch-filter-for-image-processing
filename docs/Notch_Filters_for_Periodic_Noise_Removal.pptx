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DM Sans" pitchFamily="2" charset="0"/>
      <p:regular r:id="rId19"/>
      <p:bold r:id="rId20"/>
    </p:embeddedFont>
    <p:embeddedFont>
      <p:font typeface="JetBrains Mono" panose="020B060402020202020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IT SHAW" userId="9716ca6d8eefd8ba" providerId="LiveId" clId="{E277291E-BE09-4647-A9CE-F9B55E9DFCC5}"/>
    <pc:docChg chg="undo custSel modSld">
      <pc:chgData name="ROHIT SHAW" userId="9716ca6d8eefd8ba" providerId="LiveId" clId="{E277291E-BE09-4647-A9CE-F9B55E9DFCC5}" dt="2026-10-26T19:44:30.620" v="184" actId="20577"/>
      <pc:docMkLst>
        <pc:docMk/>
      </pc:docMkLst>
      <pc:sldChg chg="modSp mod">
        <pc:chgData name="ROHIT SHAW" userId="9716ca6d8eefd8ba" providerId="LiveId" clId="{E277291E-BE09-4647-A9CE-F9B55E9DFCC5}" dt="2026-10-26T16:12:08.913" v="183" actId="2164"/>
        <pc:sldMkLst>
          <pc:docMk/>
          <pc:sldMk cId="0" sldId="260"/>
        </pc:sldMkLst>
        <pc:graphicFrameChg chg="modGraphic">
          <ac:chgData name="ROHIT SHAW" userId="9716ca6d8eefd8ba" providerId="LiveId" clId="{E277291E-BE09-4647-A9CE-F9B55E9DFCC5}" dt="2026-10-26T16:12:08.913" v="183" actId="2164"/>
          <ac:graphicFrameMkLst>
            <pc:docMk/>
            <pc:sldMk cId="0" sldId="260"/>
            <ac:graphicFrameMk id="3" creationId="{00000000-0000-0000-0000-000000000000}"/>
          </ac:graphicFrameMkLst>
        </pc:graphicFrameChg>
      </pc:sldChg>
      <pc:sldChg chg="modSp mod">
        <pc:chgData name="ROHIT SHAW" userId="9716ca6d8eefd8ba" providerId="LiveId" clId="{E277291E-BE09-4647-A9CE-F9B55E9DFCC5}" dt="2026-10-26T19:44:30.620" v="184" actId="20577"/>
        <pc:sldMkLst>
          <pc:docMk/>
          <pc:sldMk cId="0" sldId="270"/>
        </pc:sldMkLst>
        <pc:spChg chg="mod">
          <ac:chgData name="ROHIT SHAW" userId="9716ca6d8eefd8ba" providerId="LiveId" clId="{E277291E-BE09-4647-A9CE-F9B55E9DFCC5}" dt="2026-10-26T19:44:30.620" v="184" actId="20577"/>
          <ac:spMkLst>
            <pc:docMk/>
            <pc:sldMk cId="0" sldId="270"/>
            <ac:spMk id="3" creationId="{00000000-0000-0000-0000-000000000000}"/>
          </ac:spMkLst>
        </pc:spChg>
      </pc:sldChg>
      <pc:sldChg chg="modSp mod">
        <pc:chgData name="ROHIT SHAW" userId="9716ca6d8eefd8ba" providerId="LiveId" clId="{E277291E-BE09-4647-A9CE-F9B55E9DFCC5}" dt="2026-10-26T13:49:05.403" v="182" actId="20577"/>
        <pc:sldMkLst>
          <pc:docMk/>
          <pc:sldMk cId="0" sldId="271"/>
        </pc:sldMkLst>
        <pc:spChg chg="mod">
          <ac:chgData name="ROHIT SHAW" userId="9716ca6d8eefd8ba" providerId="LiveId" clId="{E277291E-BE09-4647-A9CE-F9B55E9DFCC5}" dt="2026-10-26T13:49:05.403" v="182" actId="20577"/>
          <ac:spMkLst>
            <pc:docMk/>
            <pc:sldMk cId="0" sldId="271"/>
            <ac:spMk id="2" creationId="{00000000-0000-0000-0000-000000000000}"/>
          </ac:spMkLst>
        </pc:spChg>
        <pc:spChg chg="mod">
          <ac:chgData name="ROHIT SHAW" userId="9716ca6d8eefd8ba" providerId="LiveId" clId="{E277291E-BE09-4647-A9CE-F9B55E9DFCC5}" dt="2026-10-26T13:48:53.721" v="142" actId="20577"/>
          <ac:spMkLst>
            <pc:docMk/>
            <pc:sldMk cId="0" sldId="271"/>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757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the project removes periodic noise from images using three notch filters in the frequency domain, then walks through the outline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Periodic noise is a structured pattern, so it concentrates into a few bright spikes in the Fourier spectrum. That is what makes a notch filter effective: it removes just those spikes.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linked questions: how to remove periodic noise without blurring, and how to pick the filter type and parameters. The GUI makes trying options quick.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1 to 3 give the theory: why periodic noise appears as spikes, why the FFT makes this practical, and how Butterworth order trades sharpness against ringing.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4 and 5 connect the theory to practice: transform-domain restoration, and the open-source Python implementation this work builds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extension: MSE or PSNR against a clean reference image, if you add them to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on the top row, then continue on the bottom row. Steps 4 and 5 are where the notch filters differ: the user picks the spike locations, and the mask shape depends on the filter type.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reject filters. The Ideal filter is a hard circle, Butterworth smooths the edge with its order n, and Gaussian has the smoothest transition.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GUI with the Ideal filter. Same image and same settings as the Butterworth and Gaussian slides, so the three can be compared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GUI with the Butterworth filter at order 1. A higher order would sharpen the transition and move the result closer to the Ideal filter.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GUI with the Gaussian filter, same image and same settings as the Ideal and Butterworth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Filtered panels cropped from the GUI screenshots. From left: original, Ideal, Butterworth, Gaussian. The Ideal result is the most aggressive and the Gaussian result the gentlest.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 has a sharp cutoff and tends to ring, Gaussian is smooth with no ringing but acts less sharply, and Butterworth sits between them with the order as the tuning knob.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takeaway: a notch filter is a targeted tool, and the choice of Ideal, Butterworth or Gaussian is a trade-off between sharpness and ringing.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1912620"/>
            <a:ext cx="512775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5CC8B8"/>
                </a:solidFill>
                <a:latin typeface="DM Sans" pitchFamily="34" charset="0"/>
                <a:ea typeface="DM Sans" pitchFamily="34" charset="-122"/>
                <a:cs typeface="DM Sans" pitchFamily="34" charset="-120"/>
              </a:rPr>
              <a:t>DIGITAL IMAGE PROCESSING PROJECT</a:t>
            </a:r>
            <a:endParaRPr lang="en-US" sz="1400" dirty="0"/>
          </a:p>
        </p:txBody>
      </p:sp>
      <p:sp>
        <p:nvSpPr>
          <p:cNvPr id="3" name="Text 1"/>
          <p:cNvSpPr>
            <a:spLocks noGrp="1"/>
          </p:cNvSpPr>
          <p:nvPr>
            <p:ph type="title"/>
          </p:nvPr>
        </p:nvSpPr>
        <p:spPr>
          <a:xfrm>
            <a:off x="812800" y="2364740"/>
            <a:ext cx="5127752" cy="178562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5F3EE"/>
                </a:solidFill>
                <a:latin typeface="DM Sans" pitchFamily="34" charset="0"/>
                <a:ea typeface="DM Sans" pitchFamily="34" charset="-122"/>
                <a:cs typeface="DM Sans" pitchFamily="34" charset="-120"/>
              </a:rPr>
              <a:t>Periodic Noise Removal Using Notch Filters</a:t>
            </a:r>
            <a:endParaRPr lang="en-US" sz="4200" dirty="0"/>
          </a:p>
        </p:txBody>
      </p:sp>
      <p:sp>
        <p:nvSpPr>
          <p:cNvPr id="4" name="Text 2"/>
          <p:cNvSpPr/>
          <p:nvPr/>
        </p:nvSpPr>
        <p:spPr>
          <a:xfrm>
            <a:off x="812800" y="4328160"/>
            <a:ext cx="5127752" cy="64262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A9B6C6"/>
                </a:solidFill>
                <a:latin typeface="DM Sans" pitchFamily="34" charset="0"/>
                <a:ea typeface="DM Sans" pitchFamily="34" charset="-122"/>
                <a:cs typeface="DM Sans" pitchFamily="34" charset="-120"/>
              </a:rPr>
              <a:t>Ideal, Butterworth and Gaussian notch filters in the frequency domain</a:t>
            </a:r>
            <a:endParaRPr lang="en-US" sz="1800" dirty="0"/>
          </a:p>
        </p:txBody>
      </p:sp>
      <p:sp>
        <p:nvSpPr>
          <p:cNvPr id="5" name="Shape 3"/>
          <p:cNvSpPr/>
          <p:nvPr/>
        </p:nvSpPr>
        <p:spPr>
          <a:xfrm>
            <a:off x="6400800" y="1490980"/>
            <a:ext cx="4978400" cy="3876040"/>
          </a:xfrm>
          <a:prstGeom prst="roundRect">
            <a:avLst>
              <a:gd name="adj" fmla="val 3932"/>
            </a:avLst>
          </a:prstGeom>
          <a:solidFill>
            <a:srgbClr val="162840"/>
          </a:solidFill>
          <a:ln/>
        </p:spPr>
      </p:sp>
      <p:sp>
        <p:nvSpPr>
          <p:cNvPr id="6" name="Text 4"/>
          <p:cNvSpPr/>
          <p:nvPr/>
        </p:nvSpPr>
        <p:spPr>
          <a:xfrm>
            <a:off x="6756400" y="1846580"/>
            <a:ext cx="439521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CC8B8"/>
                </a:solidFill>
                <a:latin typeface="DM Sans" pitchFamily="34" charset="0"/>
                <a:ea typeface="DM Sans" pitchFamily="34" charset="-122"/>
                <a:cs typeface="DM Sans" pitchFamily="34" charset="-120"/>
              </a:rPr>
              <a:t>Presentation outline</a:t>
            </a:r>
            <a:endParaRPr lang="en-US" sz="1600" dirty="0"/>
          </a:p>
        </p:txBody>
      </p:sp>
      <p:sp>
        <p:nvSpPr>
          <p:cNvPr id="7" name="Text 5"/>
          <p:cNvSpPr/>
          <p:nvPr/>
        </p:nvSpPr>
        <p:spPr>
          <a:xfrm>
            <a:off x="6761480" y="2268220"/>
            <a:ext cx="4382516" cy="2768600"/>
          </a:xfrm>
          <a:prstGeom prst="rect">
            <a:avLst/>
          </a:prstGeom>
          <a:noFill/>
          <a:ln/>
        </p:spPr>
        <p:txBody>
          <a:bodyPr wrap="square" lIns="0" tIns="0" rIns="0" bIns="0" rtlCol="0" anchor="t">
            <a:normAutofit/>
          </a:bodyPr>
          <a:lstStyle/>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Introduction</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Problem Statement and Proposed Solution</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Literature Review</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Methodology and Implementation</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Results and Analysis</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Conclusion</a:t>
            </a:r>
            <a:endParaRPr lang="en-US" sz="1800" dirty="0"/>
          </a:p>
          <a:p>
            <a:pPr marL="248920" indent="-248920" algn="l">
              <a:lnSpc>
                <a:spcPts val="2700"/>
              </a:lnSpc>
              <a:buSzPct val="100000"/>
              <a:buFontTx/>
              <a:buAutoNum type="arabicPeriod"/>
            </a:pPr>
            <a:r>
              <a:rPr lang="en-US" sz="1800" dirty="0">
                <a:solidFill>
                  <a:srgbClr val="F5F3EE"/>
                </a:solidFill>
                <a:latin typeface="DM Sans" pitchFamily="34" charset="0"/>
                <a:ea typeface="DM Sans" pitchFamily="34" charset="-122"/>
                <a:cs typeface="DM Sans" pitchFamily="34" charset="-120"/>
              </a:rPr>
              <a:t>Important References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Introduction</a:t>
            </a:r>
            <a:endParaRPr lang="en-US" sz="3600" dirty="0"/>
          </a:p>
        </p:txBody>
      </p:sp>
      <p:sp>
        <p:nvSpPr>
          <p:cNvPr id="3" name="Shape 1"/>
          <p:cNvSpPr/>
          <p:nvPr/>
        </p:nvSpPr>
        <p:spPr>
          <a:xfrm>
            <a:off x="815975" y="1572895"/>
            <a:ext cx="5200650" cy="1527810"/>
          </a:xfrm>
          <a:prstGeom prst="roundRect">
            <a:avLst>
              <a:gd name="adj" fmla="val 6442"/>
            </a:avLst>
          </a:prstGeom>
          <a:solidFill>
            <a:srgbClr val="FBFAF7"/>
          </a:solidFill>
          <a:ln w="6350">
            <a:solidFill>
              <a:srgbClr val="E1DDD3"/>
            </a:solidFill>
            <a:prstDash val="solid"/>
          </a:ln>
        </p:spPr>
      </p:sp>
      <p:sp>
        <p:nvSpPr>
          <p:cNvPr id="4" name="Text 2"/>
          <p:cNvSpPr/>
          <p:nvPr/>
        </p:nvSpPr>
        <p:spPr>
          <a:xfrm>
            <a:off x="1046480" y="1803400"/>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7F74"/>
                </a:solidFill>
                <a:latin typeface="DM Sans" pitchFamily="34" charset="0"/>
                <a:ea typeface="DM Sans" pitchFamily="34" charset="-122"/>
                <a:cs typeface="DM Sans" pitchFamily="34" charset="-120"/>
              </a:rPr>
              <a:t>Periodic noise is common</a:t>
            </a:r>
            <a:endParaRPr lang="en-US" sz="1600" dirty="0"/>
          </a:p>
        </p:txBody>
      </p:sp>
      <p:sp>
        <p:nvSpPr>
          <p:cNvPr id="5" name="Text 3"/>
          <p:cNvSpPr/>
          <p:nvPr/>
        </p:nvSpPr>
        <p:spPr>
          <a:xfrm>
            <a:off x="1046480" y="2123440"/>
            <a:ext cx="488182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Images are often corrupted by stripes, grids or moiré patterns from electrical interference, scanning or sensor faults.</a:t>
            </a:r>
            <a:endParaRPr lang="en-US" sz="1400" dirty="0"/>
          </a:p>
        </p:txBody>
      </p:sp>
      <p:sp>
        <p:nvSpPr>
          <p:cNvPr id="6" name="Shape 4"/>
          <p:cNvSpPr/>
          <p:nvPr/>
        </p:nvSpPr>
        <p:spPr>
          <a:xfrm>
            <a:off x="6175375" y="1572895"/>
            <a:ext cx="5200650" cy="1527810"/>
          </a:xfrm>
          <a:prstGeom prst="roundRect">
            <a:avLst>
              <a:gd name="adj" fmla="val 6442"/>
            </a:avLst>
          </a:prstGeom>
          <a:solidFill>
            <a:srgbClr val="FBFAF7"/>
          </a:solidFill>
          <a:ln w="6350">
            <a:solidFill>
              <a:srgbClr val="E1DDD3"/>
            </a:solidFill>
            <a:prstDash val="solid"/>
          </a:ln>
        </p:spPr>
      </p:sp>
      <p:sp>
        <p:nvSpPr>
          <p:cNvPr id="7" name="Text 5"/>
          <p:cNvSpPr/>
          <p:nvPr/>
        </p:nvSpPr>
        <p:spPr>
          <a:xfrm>
            <a:off x="6405880" y="1803400"/>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7F74"/>
                </a:solidFill>
                <a:latin typeface="DM Sans" pitchFamily="34" charset="0"/>
                <a:ea typeface="DM Sans" pitchFamily="34" charset="-122"/>
                <a:cs typeface="DM Sans" pitchFamily="34" charset="-120"/>
              </a:rPr>
              <a:t>Spatial filters fall short</a:t>
            </a:r>
            <a:endParaRPr lang="en-US" sz="1600" dirty="0"/>
          </a:p>
        </p:txBody>
      </p:sp>
      <p:sp>
        <p:nvSpPr>
          <p:cNvPr id="8" name="Text 6"/>
          <p:cNvSpPr/>
          <p:nvPr/>
        </p:nvSpPr>
        <p:spPr>
          <a:xfrm>
            <a:off x="6405880" y="2123440"/>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Mean and median filters blur the image and cannot remove periodic patterns cleanly.</a:t>
            </a:r>
            <a:endParaRPr lang="en-US" sz="1400" dirty="0"/>
          </a:p>
        </p:txBody>
      </p:sp>
      <p:sp>
        <p:nvSpPr>
          <p:cNvPr id="9" name="Shape 7"/>
          <p:cNvSpPr/>
          <p:nvPr/>
        </p:nvSpPr>
        <p:spPr>
          <a:xfrm>
            <a:off x="815975" y="3259455"/>
            <a:ext cx="5200650" cy="1527810"/>
          </a:xfrm>
          <a:prstGeom prst="roundRect">
            <a:avLst>
              <a:gd name="adj" fmla="val 6442"/>
            </a:avLst>
          </a:prstGeom>
          <a:solidFill>
            <a:srgbClr val="FBFAF7"/>
          </a:solidFill>
          <a:ln w="6350">
            <a:solidFill>
              <a:srgbClr val="E1DDD3"/>
            </a:solidFill>
            <a:prstDash val="solid"/>
          </a:ln>
        </p:spPr>
      </p:sp>
      <p:sp>
        <p:nvSpPr>
          <p:cNvPr id="10" name="Text 8"/>
          <p:cNvSpPr/>
          <p:nvPr/>
        </p:nvSpPr>
        <p:spPr>
          <a:xfrm>
            <a:off x="1046480" y="3489960"/>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7F74"/>
                </a:solidFill>
                <a:latin typeface="DM Sans" pitchFamily="34" charset="0"/>
                <a:ea typeface="DM Sans" pitchFamily="34" charset="-122"/>
                <a:cs typeface="DM Sans" pitchFamily="34" charset="-120"/>
              </a:rPr>
              <a:t>Noise shows up as spikes</a:t>
            </a:r>
            <a:endParaRPr lang="en-US" sz="1600" dirty="0"/>
          </a:p>
        </p:txBody>
      </p:sp>
      <p:sp>
        <p:nvSpPr>
          <p:cNvPr id="11" name="Text 9"/>
          <p:cNvSpPr/>
          <p:nvPr/>
        </p:nvSpPr>
        <p:spPr>
          <a:xfrm>
            <a:off x="1046480" y="3810000"/>
            <a:ext cx="488182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Periodic noise appears as bright, symmetric spikes in the Fourier spectrum, so it can be removed in the frequency domain.</a:t>
            </a:r>
            <a:endParaRPr lang="en-US" sz="1400" dirty="0"/>
          </a:p>
        </p:txBody>
      </p:sp>
      <p:sp>
        <p:nvSpPr>
          <p:cNvPr id="12" name="Shape 10"/>
          <p:cNvSpPr/>
          <p:nvPr/>
        </p:nvSpPr>
        <p:spPr>
          <a:xfrm>
            <a:off x="6175375" y="3259455"/>
            <a:ext cx="5200650" cy="1527810"/>
          </a:xfrm>
          <a:prstGeom prst="roundRect">
            <a:avLst>
              <a:gd name="adj" fmla="val 6442"/>
            </a:avLst>
          </a:prstGeom>
          <a:solidFill>
            <a:srgbClr val="FBFAF7"/>
          </a:solidFill>
          <a:ln w="6350">
            <a:solidFill>
              <a:srgbClr val="E1DDD3"/>
            </a:solidFill>
            <a:prstDash val="solid"/>
          </a:ln>
        </p:spPr>
      </p:sp>
      <p:sp>
        <p:nvSpPr>
          <p:cNvPr id="13" name="Text 11"/>
          <p:cNvSpPr/>
          <p:nvPr/>
        </p:nvSpPr>
        <p:spPr>
          <a:xfrm>
            <a:off x="6405880" y="3489960"/>
            <a:ext cx="488182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7F74"/>
                </a:solidFill>
                <a:latin typeface="DM Sans" pitchFamily="34" charset="0"/>
                <a:ea typeface="DM Sans" pitchFamily="34" charset="-122"/>
                <a:cs typeface="DM Sans" pitchFamily="34" charset="-120"/>
              </a:rPr>
              <a:t>A notch filter targets them</a:t>
            </a:r>
            <a:endParaRPr lang="en-US" sz="1600" dirty="0"/>
          </a:p>
        </p:txBody>
      </p:sp>
      <p:sp>
        <p:nvSpPr>
          <p:cNvPr id="14" name="Text 12"/>
          <p:cNvSpPr/>
          <p:nvPr/>
        </p:nvSpPr>
        <p:spPr>
          <a:xfrm>
            <a:off x="6405880" y="3810000"/>
            <a:ext cx="488182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It suppresses only the noise frequencies and leaves the rest of the image almost untouched.</a:t>
            </a:r>
            <a:endParaRPr lang="en-US" sz="1400" dirty="0"/>
          </a:p>
        </p:txBody>
      </p:sp>
      <p:sp>
        <p:nvSpPr>
          <p:cNvPr id="15" name="Text 13"/>
          <p:cNvSpPr/>
          <p:nvPr/>
        </p:nvSpPr>
        <p:spPr>
          <a:xfrm>
            <a:off x="812800" y="5044440"/>
            <a:ext cx="10566400" cy="568960"/>
          </a:xfrm>
          <a:prstGeom prst="roundRect">
            <a:avLst>
              <a:gd name="adj" fmla="val 17857"/>
            </a:avLst>
          </a:prstGeom>
          <a:solidFill>
            <a:srgbClr val="0F1B2D"/>
          </a:solidFill>
          <a:ln/>
        </p:spPr>
        <p:txBody>
          <a:bodyPr wrap="square" lIns="198842" tIns="122642" rIns="0" bIns="97242" rtlCol="0" anchor="t">
            <a:normAutofit/>
          </a:bodyPr>
          <a:lstStyle/>
          <a:p>
            <a:pPr marL="0" indent="0" algn="l">
              <a:lnSpc>
                <a:spcPts val="2080"/>
              </a:lnSpc>
              <a:buNone/>
            </a:pPr>
            <a:r>
              <a:rPr lang="en-US" sz="1600" dirty="0">
                <a:solidFill>
                  <a:srgbClr val="F5F3EE"/>
                </a:solidFill>
                <a:latin typeface="DM Sans" pitchFamily="34" charset="0"/>
                <a:ea typeface="DM Sans" pitchFamily="34" charset="-122"/>
                <a:cs typeface="DM Sans" pitchFamily="34" charset="-120"/>
              </a:rPr>
              <a:t>This project implements three notch filters: Ideal, Butterworth and Gaussian.</a:t>
            </a:r>
            <a:endParaRPr lang="en-US" sz="1600" dirty="0"/>
          </a:p>
        </p:txBody>
      </p:sp>
      <p:sp>
        <p:nvSpPr>
          <p:cNvPr id="16" name="Text 14"/>
          <p:cNvSpPr/>
          <p:nvPr/>
        </p:nvSpPr>
        <p:spPr>
          <a:xfrm>
            <a:off x="812800" y="6238241"/>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7" name="Text 15"/>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Problem Statement and Proposed Solution</a:t>
            </a:r>
            <a:endParaRPr lang="en-US" sz="3600" dirty="0"/>
          </a:p>
        </p:txBody>
      </p:sp>
      <p:sp>
        <p:nvSpPr>
          <p:cNvPr id="3" name="Shape 1"/>
          <p:cNvSpPr/>
          <p:nvPr/>
        </p:nvSpPr>
        <p:spPr>
          <a:xfrm>
            <a:off x="812800" y="1620520"/>
            <a:ext cx="5176520" cy="4221480"/>
          </a:xfrm>
          <a:prstGeom prst="roundRect">
            <a:avLst>
              <a:gd name="adj" fmla="val 3008"/>
            </a:avLst>
          </a:prstGeom>
          <a:solidFill>
            <a:srgbClr val="0F1B2D"/>
          </a:solidFill>
          <a:ln/>
        </p:spPr>
      </p:sp>
      <p:sp>
        <p:nvSpPr>
          <p:cNvPr id="4" name="Text 2"/>
          <p:cNvSpPr/>
          <p:nvPr/>
        </p:nvSpPr>
        <p:spPr>
          <a:xfrm>
            <a:off x="1117600" y="1925320"/>
            <a:ext cx="47039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CC8B8"/>
                </a:solidFill>
                <a:latin typeface="DM Sans" pitchFamily="34" charset="0"/>
                <a:ea typeface="DM Sans" pitchFamily="34" charset="-122"/>
                <a:cs typeface="DM Sans" pitchFamily="34" charset="-120"/>
              </a:rPr>
              <a:t>Problem</a:t>
            </a:r>
            <a:endParaRPr lang="en-US" sz="2000" dirty="0"/>
          </a:p>
        </p:txBody>
      </p:sp>
      <p:sp>
        <p:nvSpPr>
          <p:cNvPr id="5" name="Text 3"/>
          <p:cNvSpPr/>
          <p:nvPr/>
        </p:nvSpPr>
        <p:spPr>
          <a:xfrm>
            <a:off x="1174496" y="2407920"/>
            <a:ext cx="4639412" cy="1234440"/>
          </a:xfrm>
          <a:prstGeom prst="rect">
            <a:avLst/>
          </a:prstGeom>
          <a:noFill/>
          <a:ln/>
        </p:spPr>
        <p:txBody>
          <a:bodyPr wrap="square" lIns="0" tIns="0" rIns="0" bIns="0" rtlCol="0" anchor="t">
            <a:normAutofit/>
          </a:bodyPr>
          <a:lstStyle/>
          <a:p>
            <a:pPr marL="197104" indent="-197104" algn="l">
              <a:lnSpc>
                <a:spcPts val="2380"/>
              </a:lnSpc>
              <a:buSzPct val="100000"/>
              <a:buChar char="•"/>
            </a:pPr>
            <a:r>
              <a:rPr lang="en-US" sz="1700" dirty="0">
                <a:solidFill>
                  <a:srgbClr val="F5F3EE"/>
                </a:solidFill>
                <a:latin typeface="DM Sans" pitchFamily="34" charset="0"/>
                <a:ea typeface="DM Sans" pitchFamily="34" charset="-122"/>
                <a:cs typeface="DM Sans" pitchFamily="34" charset="-120"/>
              </a:rPr>
              <a:t>Periodic noise degrades image quality and cannot be removed well by spatial filtering.</a:t>
            </a:r>
            <a:endParaRPr lang="en-US" sz="1700" dirty="0"/>
          </a:p>
          <a:p>
            <a:pPr marL="197104" indent="-197104" algn="l">
              <a:lnSpc>
                <a:spcPts val="2380"/>
              </a:lnSpc>
              <a:buSzPct val="100000"/>
              <a:buChar char="•"/>
            </a:pPr>
            <a:r>
              <a:rPr lang="en-US" sz="1700" dirty="0">
                <a:solidFill>
                  <a:srgbClr val="F5F3EE"/>
                </a:solidFill>
                <a:latin typeface="DM Sans" pitchFamily="34" charset="0"/>
                <a:ea typeface="DM Sans" pitchFamily="34" charset="-122"/>
                <a:cs typeface="DM Sans" pitchFamily="34" charset="-120"/>
              </a:rPr>
              <a:t>Choosing the right notch filter type and parameters is not obvious.</a:t>
            </a:r>
            <a:endParaRPr lang="en-US" sz="1700" dirty="0"/>
          </a:p>
        </p:txBody>
      </p:sp>
      <p:sp>
        <p:nvSpPr>
          <p:cNvPr id="6" name="Shape 4"/>
          <p:cNvSpPr/>
          <p:nvPr/>
        </p:nvSpPr>
        <p:spPr>
          <a:xfrm>
            <a:off x="6195695" y="1623695"/>
            <a:ext cx="5180330" cy="4215130"/>
          </a:xfrm>
          <a:prstGeom prst="roundRect">
            <a:avLst>
              <a:gd name="adj" fmla="val 2938"/>
            </a:avLst>
          </a:prstGeom>
          <a:solidFill>
            <a:srgbClr val="FBFAF7"/>
          </a:solidFill>
          <a:ln w="6350">
            <a:solidFill>
              <a:srgbClr val="E1DDD3"/>
            </a:solidFill>
            <a:prstDash val="solid"/>
          </a:ln>
        </p:spPr>
      </p:sp>
      <p:sp>
        <p:nvSpPr>
          <p:cNvPr id="7" name="Text 5"/>
          <p:cNvSpPr/>
          <p:nvPr/>
        </p:nvSpPr>
        <p:spPr>
          <a:xfrm>
            <a:off x="6502400" y="1930400"/>
            <a:ext cx="47039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7F74"/>
                </a:solidFill>
                <a:latin typeface="DM Sans" pitchFamily="34" charset="0"/>
                <a:ea typeface="DM Sans" pitchFamily="34" charset="-122"/>
                <a:cs typeface="DM Sans" pitchFamily="34" charset="-120"/>
              </a:rPr>
              <a:t>Proposed solution</a:t>
            </a:r>
            <a:endParaRPr lang="en-US" sz="2000" dirty="0"/>
          </a:p>
        </p:txBody>
      </p:sp>
      <p:sp>
        <p:nvSpPr>
          <p:cNvPr id="8" name="Text 6"/>
          <p:cNvSpPr/>
          <p:nvPr/>
        </p:nvSpPr>
        <p:spPr>
          <a:xfrm>
            <a:off x="6559296" y="2413000"/>
            <a:ext cx="4639412" cy="2443480"/>
          </a:xfrm>
          <a:prstGeom prst="rect">
            <a:avLst/>
          </a:prstGeom>
          <a:noFill/>
          <a:ln/>
        </p:spPr>
        <p:txBody>
          <a:bodyPr wrap="square" lIns="0" tIns="0" rIns="0" bIns="0" rtlCol="0" anchor="t">
            <a:normAutofit/>
          </a:bodyPr>
          <a:lstStyle/>
          <a:p>
            <a:pPr marL="197104" indent="-197104" algn="l">
              <a:lnSpc>
                <a:spcPts val="2380"/>
              </a:lnSpc>
              <a:buSzPct val="100000"/>
              <a:buChar char="•"/>
            </a:pPr>
            <a:r>
              <a:rPr lang="en-US" sz="1700" dirty="0">
                <a:solidFill>
                  <a:srgbClr val="3A4656"/>
                </a:solidFill>
                <a:latin typeface="DM Sans" pitchFamily="34" charset="0"/>
                <a:ea typeface="DM Sans" pitchFamily="34" charset="-122"/>
                <a:cs typeface="DM Sans" pitchFamily="34" charset="-120"/>
              </a:rPr>
              <a:t>Implement Ideal, Butterworth (variable order) and Gaussian notch filters in Python.</a:t>
            </a:r>
            <a:endParaRPr lang="en-US" sz="1700" dirty="0"/>
          </a:p>
          <a:p>
            <a:pPr marL="197104" indent="-197104" algn="l">
              <a:lnSpc>
                <a:spcPts val="2380"/>
              </a:lnSpc>
              <a:buSzPct val="100000"/>
              <a:buChar char="•"/>
            </a:pPr>
            <a:r>
              <a:rPr lang="en-US" sz="1700" dirty="0">
                <a:solidFill>
                  <a:srgbClr val="3A4656"/>
                </a:solidFill>
                <a:latin typeface="DM Sans" pitchFamily="34" charset="0"/>
                <a:ea typeface="DM Sans" pitchFamily="34" charset="-122"/>
                <a:cs typeface="DM Sans" pitchFamily="34" charset="-120"/>
              </a:rPr>
              <a:t>Provide an interactive GUI: load an image, click the noise spikes on the spectrum and apply the filter.</a:t>
            </a:r>
            <a:endParaRPr lang="en-US" sz="1700" dirty="0"/>
          </a:p>
          <a:p>
            <a:pPr marL="197104" indent="-197104" algn="l">
              <a:lnSpc>
                <a:spcPts val="2380"/>
              </a:lnSpc>
              <a:buSzPct val="100000"/>
              <a:buChar char="•"/>
            </a:pPr>
            <a:r>
              <a:rPr lang="en-US" sz="1700" dirty="0">
                <a:solidFill>
                  <a:srgbClr val="3A4656"/>
                </a:solidFill>
                <a:latin typeface="DM Sans" pitchFamily="34" charset="0"/>
                <a:ea typeface="DM Sans" pitchFamily="34" charset="-122"/>
                <a:cs typeface="DM Sans" pitchFamily="34" charset="-120"/>
              </a:rPr>
              <a:t>Compare the filters side by side for noise removal, edge sharpness and ringing.</a:t>
            </a:r>
            <a:endParaRPr lang="en-US" sz="1700" dirty="0"/>
          </a:p>
        </p:txBody>
      </p:sp>
      <p:sp>
        <p:nvSpPr>
          <p:cNvPr id="9" name="Text 7"/>
          <p:cNvSpPr/>
          <p:nvPr/>
        </p:nvSpPr>
        <p:spPr>
          <a:xfrm>
            <a:off x="812800" y="6238241"/>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0" name="Text 8"/>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Literature Review (1 of 2)</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0"/>
          <a:ext cx="10556239" cy="2583180"/>
        </p:xfrm>
        <a:graphic>
          <a:graphicData uri="http://schemas.openxmlformats.org/drawingml/2006/table">
            <a:tbl>
              <a:tblPr/>
              <a:tblGrid>
                <a:gridCol w="1372311">
                  <a:extLst>
                    <a:ext uri="{9D8B030D-6E8A-4147-A177-3AD203B41FA5}">
                      <a16:colId xmlns:a16="http://schemas.microsoft.com/office/drawing/2014/main" val="20000"/>
                    </a:ext>
                  </a:extLst>
                </a:gridCol>
                <a:gridCol w="1794561">
                  <a:extLst>
                    <a:ext uri="{9D8B030D-6E8A-4147-A177-3AD203B41FA5}">
                      <a16:colId xmlns:a16="http://schemas.microsoft.com/office/drawing/2014/main" val="20001"/>
                    </a:ext>
                  </a:extLst>
                </a:gridCol>
                <a:gridCol w="2955747">
                  <a:extLst>
                    <a:ext uri="{9D8B030D-6E8A-4147-A177-3AD203B41FA5}">
                      <a16:colId xmlns:a16="http://schemas.microsoft.com/office/drawing/2014/main" val="20002"/>
                    </a:ext>
                  </a:extLst>
                </a:gridCol>
                <a:gridCol w="2744622">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tblGrid>
              <a:tr h="356870">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Ref.</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Focused area</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Methodology</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Key findings</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Relevance</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819150">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[1] Gonzalez &amp; Woods</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Frequency-domain filtering, periodic noise removal</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2-D DFT, centered spectrum, notch reject filters built from shifted high-pass filters</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Noise shows as symmetric spikes; notch filters remove them with little blurring</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Theory for all three filters</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[2] Cooley &amp; Tukey</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Fast Fourier Transform</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Divide-and-conquer algorithm for the DFT</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Cost drops from O(N²) to O(N log N)</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Makes frequency filtering practical</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819150">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[3] Butterworth</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Filter design</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Maximally flat magnitude response; order controls the transition</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Higher order gives a sharper cutoff, approaching the ideal filter</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Basis for the variable-order notch</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5" name="Text 2"/>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Literature Review (2 of 2)</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916654128"/>
              </p:ext>
            </p:extLst>
          </p:nvPr>
        </p:nvGraphicFramePr>
        <p:xfrm>
          <a:off x="822960" y="1579881"/>
          <a:ext cx="10556239" cy="1176020"/>
        </p:xfrm>
        <a:graphic>
          <a:graphicData uri="http://schemas.openxmlformats.org/drawingml/2006/table">
            <a:tbl>
              <a:tblPr/>
              <a:tblGrid>
                <a:gridCol w="1372311">
                  <a:extLst>
                    <a:ext uri="{9D8B030D-6E8A-4147-A177-3AD203B41FA5}">
                      <a16:colId xmlns:a16="http://schemas.microsoft.com/office/drawing/2014/main" val="20000"/>
                    </a:ext>
                  </a:extLst>
                </a:gridCol>
                <a:gridCol w="1794561">
                  <a:extLst>
                    <a:ext uri="{9D8B030D-6E8A-4147-A177-3AD203B41FA5}">
                      <a16:colId xmlns:a16="http://schemas.microsoft.com/office/drawing/2014/main" val="20001"/>
                    </a:ext>
                  </a:extLst>
                </a:gridCol>
                <a:gridCol w="2955747">
                  <a:extLst>
                    <a:ext uri="{9D8B030D-6E8A-4147-A177-3AD203B41FA5}">
                      <a16:colId xmlns:a16="http://schemas.microsoft.com/office/drawing/2014/main" val="20002"/>
                    </a:ext>
                  </a:extLst>
                </a:gridCol>
                <a:gridCol w="2744622">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tblGrid>
              <a:tr h="356870">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Ref.</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Focused area</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Methodology</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Key findings</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F2A3A"/>
                          </a:solidFill>
                          <a:latin typeface="DM Sans" pitchFamily="34" charset="0"/>
                          <a:ea typeface="DM Sans" pitchFamily="34" charset="-122"/>
                          <a:cs typeface="DM Sans" pitchFamily="34" charset="-120"/>
                        </a:rPr>
                        <a:t>Relevance</a:t>
                      </a:r>
                      <a:endParaRPr lang="en-US" sz="1300" dirty="0">
                        <a:latin typeface="DM Sans" charset="0"/>
                        <a:ea typeface="DM Sans" charset="0"/>
                        <a:cs typeface="DM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819150">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[4] Jain</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Image enhancement and restoration</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2-D transforms and filtering</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Filtering in the transform domain suits structured noise</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F2A3A"/>
                          </a:solidFill>
                          <a:latin typeface="DM Sans" pitchFamily="34" charset="0"/>
                          <a:ea typeface="DM Sans" pitchFamily="34" charset="-122"/>
                          <a:cs typeface="DM Sans" pitchFamily="34" charset="-120"/>
                        </a:rPr>
                        <a:t>Supports the restoration approach</a:t>
                      </a:r>
                      <a:endParaRPr lang="en-US" sz="1300" dirty="0">
                        <a:latin typeface="DM Sans" charset="0"/>
                        <a:ea typeface="DM Sans" charset="0"/>
                        <a:cs typeface="DM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Text 1"/>
          <p:cNvSpPr/>
          <p:nvPr/>
        </p:nvSpPr>
        <p:spPr>
          <a:xfrm>
            <a:off x="812800" y="3829050"/>
            <a:ext cx="10566400" cy="568960"/>
          </a:xfrm>
          <a:prstGeom prst="roundRect">
            <a:avLst>
              <a:gd name="adj" fmla="val 17857"/>
            </a:avLst>
          </a:prstGeom>
          <a:solidFill>
            <a:srgbClr val="0F1B2D"/>
          </a:solidFill>
          <a:ln/>
        </p:spPr>
        <p:txBody>
          <a:bodyPr wrap="square" lIns="198842" tIns="122642" rIns="0" bIns="97242" rtlCol="0" anchor="t">
            <a:normAutofit/>
          </a:bodyPr>
          <a:lstStyle/>
          <a:p>
            <a:pPr marL="0" indent="0" algn="l">
              <a:lnSpc>
                <a:spcPts val="2080"/>
              </a:lnSpc>
              <a:buNone/>
            </a:pPr>
            <a:r>
              <a:rPr lang="en-US" sz="1600" dirty="0">
                <a:solidFill>
                  <a:srgbClr val="F5F3EE"/>
                </a:solidFill>
                <a:latin typeface="DM Sans" pitchFamily="34" charset="0"/>
                <a:ea typeface="DM Sans" pitchFamily="34" charset="-122"/>
                <a:cs typeface="DM Sans" pitchFamily="34" charset="-120"/>
              </a:rPr>
              <a:t>Common thread: structured noise is best handled in the transform domain.</a:t>
            </a:r>
            <a:endParaRPr lang="en-US" sz="1600" dirty="0"/>
          </a:p>
        </p:txBody>
      </p:sp>
      <p:sp>
        <p:nvSpPr>
          <p:cNvPr id="5" name="Text 2"/>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6" name="Text 3"/>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Methodology and Implementation</a:t>
            </a:r>
            <a:endParaRPr lang="en-US" sz="3600" dirty="0"/>
          </a:p>
        </p:txBody>
      </p:sp>
      <p:sp>
        <p:nvSpPr>
          <p:cNvPr id="3" name="Shape 1"/>
          <p:cNvSpPr/>
          <p:nvPr/>
        </p:nvSpPr>
        <p:spPr>
          <a:xfrm>
            <a:off x="815975" y="1623696"/>
            <a:ext cx="5200650" cy="1659890"/>
          </a:xfrm>
          <a:prstGeom prst="roundRect">
            <a:avLst>
              <a:gd name="adj" fmla="val 5930"/>
            </a:avLst>
          </a:prstGeom>
          <a:solidFill>
            <a:srgbClr val="FBFAF7"/>
          </a:solidFill>
          <a:ln w="6350">
            <a:solidFill>
              <a:srgbClr val="E1DDD3"/>
            </a:solidFill>
            <a:prstDash val="solid"/>
          </a:ln>
        </p:spPr>
      </p:sp>
      <p:sp>
        <p:nvSpPr>
          <p:cNvPr id="4" name="Text 2"/>
          <p:cNvSpPr/>
          <p:nvPr/>
        </p:nvSpPr>
        <p:spPr>
          <a:xfrm>
            <a:off x="1071880" y="1879600"/>
            <a:ext cx="482950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Data collection</a:t>
            </a:r>
            <a:endParaRPr lang="en-US" sz="1700" dirty="0"/>
          </a:p>
        </p:txBody>
      </p:sp>
      <p:sp>
        <p:nvSpPr>
          <p:cNvPr id="5" name="Text 3"/>
          <p:cNvSpPr/>
          <p:nvPr/>
        </p:nvSpPr>
        <p:spPr>
          <a:xfrm>
            <a:off x="1071880" y="2227582"/>
            <a:ext cx="482950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656"/>
                </a:solidFill>
                <a:latin typeface="DM Sans" pitchFamily="34" charset="0"/>
                <a:ea typeface="DM Sans" pitchFamily="34" charset="-122"/>
                <a:cs typeface="DM Sans" pitchFamily="34" charset="-120"/>
              </a:rPr>
              <a:t>Grayscale images with periodic noise (stripes, sinusoidal patterns), either user-supplied or synthetically corrupted.</a:t>
            </a:r>
            <a:endParaRPr lang="en-US" sz="1500" dirty="0"/>
          </a:p>
        </p:txBody>
      </p:sp>
      <p:sp>
        <p:nvSpPr>
          <p:cNvPr id="6" name="Shape 4"/>
          <p:cNvSpPr/>
          <p:nvPr/>
        </p:nvSpPr>
        <p:spPr>
          <a:xfrm>
            <a:off x="6175375" y="1623696"/>
            <a:ext cx="5200650" cy="1659890"/>
          </a:xfrm>
          <a:prstGeom prst="roundRect">
            <a:avLst>
              <a:gd name="adj" fmla="val 5930"/>
            </a:avLst>
          </a:prstGeom>
          <a:solidFill>
            <a:srgbClr val="FBFAF7"/>
          </a:solidFill>
          <a:ln w="6350">
            <a:solidFill>
              <a:srgbClr val="E1DDD3"/>
            </a:solidFill>
            <a:prstDash val="solid"/>
          </a:ln>
        </p:spPr>
      </p:sp>
      <p:sp>
        <p:nvSpPr>
          <p:cNvPr id="7" name="Text 5"/>
          <p:cNvSpPr/>
          <p:nvPr/>
        </p:nvSpPr>
        <p:spPr>
          <a:xfrm>
            <a:off x="6431280" y="1879600"/>
            <a:ext cx="482950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Algorithms used</a:t>
            </a:r>
            <a:endParaRPr lang="en-US" sz="1700" dirty="0"/>
          </a:p>
        </p:txBody>
      </p:sp>
      <p:sp>
        <p:nvSpPr>
          <p:cNvPr id="8" name="Text 6"/>
          <p:cNvSpPr/>
          <p:nvPr/>
        </p:nvSpPr>
        <p:spPr>
          <a:xfrm>
            <a:off x="6431280" y="2227582"/>
            <a:ext cx="482950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656"/>
                </a:solidFill>
                <a:latin typeface="DM Sans" pitchFamily="34" charset="0"/>
                <a:ea typeface="DM Sans" pitchFamily="34" charset="-122"/>
                <a:cs typeface="DM Sans" pitchFamily="34" charset="-120"/>
              </a:rPr>
              <a:t>Ideal, Butterworth (order n) and Gaussian notch reject filters.</a:t>
            </a:r>
            <a:endParaRPr lang="en-US" sz="1500" dirty="0"/>
          </a:p>
        </p:txBody>
      </p:sp>
      <p:sp>
        <p:nvSpPr>
          <p:cNvPr id="9" name="Shape 7"/>
          <p:cNvSpPr/>
          <p:nvPr/>
        </p:nvSpPr>
        <p:spPr>
          <a:xfrm>
            <a:off x="815975" y="3442336"/>
            <a:ext cx="5200650" cy="1659890"/>
          </a:xfrm>
          <a:prstGeom prst="roundRect">
            <a:avLst>
              <a:gd name="adj" fmla="val 5930"/>
            </a:avLst>
          </a:prstGeom>
          <a:solidFill>
            <a:srgbClr val="FBFAF7"/>
          </a:solidFill>
          <a:ln w="6350">
            <a:solidFill>
              <a:srgbClr val="E1DDD3"/>
            </a:solidFill>
            <a:prstDash val="solid"/>
          </a:ln>
        </p:spPr>
      </p:sp>
      <p:sp>
        <p:nvSpPr>
          <p:cNvPr id="10" name="Text 8"/>
          <p:cNvSpPr/>
          <p:nvPr/>
        </p:nvSpPr>
        <p:spPr>
          <a:xfrm>
            <a:off x="1071880" y="3698239"/>
            <a:ext cx="482950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Evaluation</a:t>
            </a:r>
            <a:endParaRPr lang="en-US" sz="1700" dirty="0"/>
          </a:p>
        </p:txBody>
      </p:sp>
      <p:sp>
        <p:nvSpPr>
          <p:cNvPr id="11" name="Text 9"/>
          <p:cNvSpPr/>
          <p:nvPr/>
        </p:nvSpPr>
        <p:spPr>
          <a:xfrm>
            <a:off x="1071880" y="4046221"/>
            <a:ext cx="482950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656"/>
                </a:solidFill>
                <a:latin typeface="DM Sans" pitchFamily="34" charset="0"/>
                <a:ea typeface="DM Sans" pitchFamily="34" charset="-122"/>
                <a:cs typeface="DM Sans" pitchFamily="34" charset="-120"/>
              </a:rPr>
              <a:t>Visual side-by-side comparison of the filtered images, judged on noise removal, edge sharpness and ringing.</a:t>
            </a:r>
            <a:endParaRPr lang="en-US" sz="1500" dirty="0"/>
          </a:p>
        </p:txBody>
      </p:sp>
      <p:sp>
        <p:nvSpPr>
          <p:cNvPr id="12" name="Shape 10"/>
          <p:cNvSpPr/>
          <p:nvPr/>
        </p:nvSpPr>
        <p:spPr>
          <a:xfrm>
            <a:off x="6175375" y="3442336"/>
            <a:ext cx="5200650" cy="1659890"/>
          </a:xfrm>
          <a:prstGeom prst="roundRect">
            <a:avLst>
              <a:gd name="adj" fmla="val 5930"/>
            </a:avLst>
          </a:prstGeom>
          <a:solidFill>
            <a:srgbClr val="FBFAF7"/>
          </a:solidFill>
          <a:ln w="6350">
            <a:solidFill>
              <a:srgbClr val="E1DDD3"/>
            </a:solidFill>
            <a:prstDash val="solid"/>
          </a:ln>
        </p:spPr>
      </p:sp>
      <p:sp>
        <p:nvSpPr>
          <p:cNvPr id="13" name="Text 11"/>
          <p:cNvSpPr/>
          <p:nvPr/>
        </p:nvSpPr>
        <p:spPr>
          <a:xfrm>
            <a:off x="6431280" y="3698239"/>
            <a:ext cx="482950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Tools used</a:t>
            </a:r>
            <a:endParaRPr lang="en-US" sz="1700" dirty="0"/>
          </a:p>
        </p:txBody>
      </p:sp>
      <p:sp>
        <p:nvSpPr>
          <p:cNvPr id="14" name="Text 12"/>
          <p:cNvSpPr/>
          <p:nvPr/>
        </p:nvSpPr>
        <p:spPr>
          <a:xfrm>
            <a:off x="6431280" y="4046221"/>
            <a:ext cx="482950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656"/>
                </a:solidFill>
                <a:latin typeface="DM Sans" pitchFamily="34" charset="0"/>
                <a:ea typeface="DM Sans" pitchFamily="34" charset="-122"/>
                <a:cs typeface="DM Sans" pitchFamily="34" charset="-120"/>
              </a:rPr>
              <a:t>Python, NumPy (FFT) and a Python GUI for loading images and selecting noise spikes.</a:t>
            </a:r>
            <a:endParaRPr lang="en-US" sz="1500" dirty="0"/>
          </a:p>
        </p:txBody>
      </p:sp>
      <p:sp>
        <p:nvSpPr>
          <p:cNvPr id="15" name="Text 13"/>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6" name="Text 14"/>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Proposed Model Implementation Flow</a:t>
            </a:r>
            <a:endParaRPr lang="en-US" sz="3600" dirty="0"/>
          </a:p>
        </p:txBody>
      </p:sp>
      <p:sp>
        <p:nvSpPr>
          <p:cNvPr id="3" name="Shape 1"/>
          <p:cNvSpPr/>
          <p:nvPr/>
        </p:nvSpPr>
        <p:spPr>
          <a:xfrm>
            <a:off x="815975" y="1795782"/>
            <a:ext cx="2178050" cy="902335"/>
          </a:xfrm>
          <a:prstGeom prst="roundRect">
            <a:avLst>
              <a:gd name="adj" fmla="val 10908"/>
            </a:avLst>
          </a:prstGeom>
          <a:solidFill>
            <a:srgbClr val="FBFAF7"/>
          </a:solidFill>
          <a:ln w="6350">
            <a:solidFill>
              <a:srgbClr val="E1DDD3"/>
            </a:solidFill>
            <a:prstDash val="solid"/>
          </a:ln>
        </p:spPr>
      </p:sp>
      <p:sp>
        <p:nvSpPr>
          <p:cNvPr id="4" name="Text 2"/>
          <p:cNvSpPr/>
          <p:nvPr/>
        </p:nvSpPr>
        <p:spPr>
          <a:xfrm>
            <a:off x="995680" y="1975486"/>
            <a:ext cx="18731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1 · Input</a:t>
            </a:r>
            <a:endParaRPr lang="en-US" sz="1300" dirty="0"/>
          </a:p>
        </p:txBody>
      </p:sp>
      <p:sp>
        <p:nvSpPr>
          <p:cNvPr id="5" name="Text 3"/>
          <p:cNvSpPr/>
          <p:nvPr/>
        </p:nvSpPr>
        <p:spPr>
          <a:xfrm>
            <a:off x="995680" y="2295525"/>
            <a:ext cx="1873199"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Noisy image</a:t>
            </a:r>
            <a:endParaRPr lang="en-US" sz="1300" dirty="0"/>
          </a:p>
        </p:txBody>
      </p:sp>
      <p:pic>
        <p:nvPicPr>
          <p:cNvPr id="6" name="Image 0" descr="arrow-right"/>
          <p:cNvPicPr>
            <a:picLocks noChangeAspect="1"/>
          </p:cNvPicPr>
          <p:nvPr/>
        </p:nvPicPr>
        <p:blipFill>
          <a:blip r:embed="rId3"/>
          <a:srcRect/>
          <a:stretch/>
        </p:blipFill>
        <p:spPr>
          <a:xfrm>
            <a:off x="3149600" y="2170748"/>
            <a:ext cx="304800" cy="152400"/>
          </a:xfrm>
          <a:prstGeom prst="rect">
            <a:avLst/>
          </a:prstGeom>
        </p:spPr>
      </p:pic>
      <p:sp>
        <p:nvSpPr>
          <p:cNvPr id="7" name="Shape 4"/>
          <p:cNvSpPr/>
          <p:nvPr/>
        </p:nvSpPr>
        <p:spPr>
          <a:xfrm>
            <a:off x="3609975" y="1684338"/>
            <a:ext cx="2178050" cy="1125220"/>
          </a:xfrm>
          <a:prstGeom prst="roundRect">
            <a:avLst>
              <a:gd name="adj" fmla="val 8747"/>
            </a:avLst>
          </a:prstGeom>
          <a:solidFill>
            <a:srgbClr val="FBFAF7"/>
          </a:solidFill>
          <a:ln w="6350">
            <a:solidFill>
              <a:srgbClr val="E1DDD3"/>
            </a:solidFill>
            <a:prstDash val="solid"/>
          </a:ln>
        </p:spPr>
      </p:sp>
      <p:sp>
        <p:nvSpPr>
          <p:cNvPr id="8" name="Text 5"/>
          <p:cNvSpPr/>
          <p:nvPr/>
        </p:nvSpPr>
        <p:spPr>
          <a:xfrm>
            <a:off x="3789680" y="1864044"/>
            <a:ext cx="18731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2 · FFT</a:t>
            </a:r>
            <a:endParaRPr lang="en-US" sz="1300" dirty="0"/>
          </a:p>
        </p:txBody>
      </p:sp>
      <p:sp>
        <p:nvSpPr>
          <p:cNvPr id="9" name="Text 6"/>
          <p:cNvSpPr/>
          <p:nvPr/>
        </p:nvSpPr>
        <p:spPr>
          <a:xfrm>
            <a:off x="3789680" y="2184084"/>
            <a:ext cx="187319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Convert to grayscale and take the 2-D FFT</a:t>
            </a:r>
            <a:endParaRPr lang="en-US" sz="1300" dirty="0"/>
          </a:p>
        </p:txBody>
      </p:sp>
      <p:pic>
        <p:nvPicPr>
          <p:cNvPr id="10" name="Image 1" descr="arrow-right"/>
          <p:cNvPicPr>
            <a:picLocks noChangeAspect="1"/>
          </p:cNvPicPr>
          <p:nvPr/>
        </p:nvPicPr>
        <p:blipFill>
          <a:blip r:embed="rId3"/>
          <a:srcRect/>
          <a:stretch/>
        </p:blipFill>
        <p:spPr>
          <a:xfrm>
            <a:off x="5943600" y="2170748"/>
            <a:ext cx="304800" cy="152400"/>
          </a:xfrm>
          <a:prstGeom prst="rect">
            <a:avLst/>
          </a:prstGeom>
        </p:spPr>
      </p:pic>
      <p:sp>
        <p:nvSpPr>
          <p:cNvPr id="11" name="Shape 7"/>
          <p:cNvSpPr/>
          <p:nvPr/>
        </p:nvSpPr>
        <p:spPr>
          <a:xfrm>
            <a:off x="6403975" y="1572896"/>
            <a:ext cx="2178050" cy="1348105"/>
          </a:xfrm>
          <a:prstGeom prst="roundRect">
            <a:avLst>
              <a:gd name="adj" fmla="val 7301"/>
            </a:avLst>
          </a:prstGeom>
          <a:solidFill>
            <a:srgbClr val="FBFAF7"/>
          </a:solidFill>
          <a:ln w="6350">
            <a:solidFill>
              <a:srgbClr val="E1DDD3"/>
            </a:solidFill>
            <a:prstDash val="solid"/>
          </a:ln>
        </p:spPr>
      </p:sp>
      <p:sp>
        <p:nvSpPr>
          <p:cNvPr id="12" name="Text 8"/>
          <p:cNvSpPr/>
          <p:nvPr/>
        </p:nvSpPr>
        <p:spPr>
          <a:xfrm>
            <a:off x="6583680" y="1752600"/>
            <a:ext cx="18731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3 · Spectrum</a:t>
            </a:r>
            <a:endParaRPr lang="en-US" sz="1300" dirty="0"/>
          </a:p>
        </p:txBody>
      </p:sp>
      <p:sp>
        <p:nvSpPr>
          <p:cNvPr id="13" name="Text 9"/>
          <p:cNvSpPr/>
          <p:nvPr/>
        </p:nvSpPr>
        <p:spPr>
          <a:xfrm>
            <a:off x="6583680" y="2072639"/>
            <a:ext cx="1873199"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Shift zero frequency to the center and display the magnitude</a:t>
            </a:r>
            <a:endParaRPr lang="en-US" sz="1300" dirty="0"/>
          </a:p>
        </p:txBody>
      </p:sp>
      <p:pic>
        <p:nvPicPr>
          <p:cNvPr id="14" name="Image 2" descr="arrow-right"/>
          <p:cNvPicPr>
            <a:picLocks noChangeAspect="1"/>
          </p:cNvPicPr>
          <p:nvPr/>
        </p:nvPicPr>
        <p:blipFill>
          <a:blip r:embed="rId3"/>
          <a:srcRect/>
          <a:stretch/>
        </p:blipFill>
        <p:spPr>
          <a:xfrm>
            <a:off x="8737600" y="2170748"/>
            <a:ext cx="304800" cy="152400"/>
          </a:xfrm>
          <a:prstGeom prst="rect">
            <a:avLst/>
          </a:prstGeom>
        </p:spPr>
      </p:pic>
      <p:sp>
        <p:nvSpPr>
          <p:cNvPr id="15" name="Shape 10"/>
          <p:cNvSpPr/>
          <p:nvPr/>
        </p:nvSpPr>
        <p:spPr>
          <a:xfrm>
            <a:off x="9197975" y="1684338"/>
            <a:ext cx="2178050" cy="1125220"/>
          </a:xfrm>
          <a:prstGeom prst="roundRect">
            <a:avLst>
              <a:gd name="adj" fmla="val 8747"/>
            </a:avLst>
          </a:prstGeom>
          <a:solidFill>
            <a:srgbClr val="FBFAF7"/>
          </a:solidFill>
          <a:ln w="6350">
            <a:solidFill>
              <a:srgbClr val="E1DDD3"/>
            </a:solidFill>
            <a:prstDash val="solid"/>
          </a:ln>
        </p:spPr>
      </p:sp>
      <p:sp>
        <p:nvSpPr>
          <p:cNvPr id="16" name="Text 11"/>
          <p:cNvSpPr/>
          <p:nvPr/>
        </p:nvSpPr>
        <p:spPr>
          <a:xfrm>
            <a:off x="9377680" y="1864044"/>
            <a:ext cx="18731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4 · Select</a:t>
            </a:r>
            <a:endParaRPr lang="en-US" sz="1300" dirty="0"/>
          </a:p>
        </p:txBody>
      </p:sp>
      <p:sp>
        <p:nvSpPr>
          <p:cNvPr id="17" name="Text 12"/>
          <p:cNvSpPr/>
          <p:nvPr/>
        </p:nvSpPr>
        <p:spPr>
          <a:xfrm>
            <a:off x="9377680" y="2184084"/>
            <a:ext cx="187319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User clicks the noise spike locations</a:t>
            </a:r>
            <a:endParaRPr lang="en-US" sz="1300" dirty="0"/>
          </a:p>
        </p:txBody>
      </p:sp>
      <p:sp>
        <p:nvSpPr>
          <p:cNvPr id="18" name="Shape 13"/>
          <p:cNvSpPr/>
          <p:nvPr/>
        </p:nvSpPr>
        <p:spPr>
          <a:xfrm>
            <a:off x="815975" y="3181350"/>
            <a:ext cx="2180590" cy="1570990"/>
          </a:xfrm>
          <a:prstGeom prst="roundRect">
            <a:avLst>
              <a:gd name="adj" fmla="val 6265"/>
            </a:avLst>
          </a:prstGeom>
          <a:solidFill>
            <a:srgbClr val="FBFAF7"/>
          </a:solidFill>
          <a:ln w="6350">
            <a:solidFill>
              <a:srgbClr val="E1DDD3"/>
            </a:solidFill>
            <a:prstDash val="solid"/>
          </a:ln>
        </p:spPr>
      </p:sp>
      <p:sp>
        <p:nvSpPr>
          <p:cNvPr id="19" name="Text 14"/>
          <p:cNvSpPr/>
          <p:nvPr/>
        </p:nvSpPr>
        <p:spPr>
          <a:xfrm>
            <a:off x="995680" y="3361057"/>
            <a:ext cx="187581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5 · Mask</a:t>
            </a:r>
            <a:endParaRPr lang="en-US" sz="1300" dirty="0"/>
          </a:p>
        </p:txBody>
      </p:sp>
      <p:sp>
        <p:nvSpPr>
          <p:cNvPr id="20" name="Text 15"/>
          <p:cNvSpPr/>
          <p:nvPr/>
        </p:nvSpPr>
        <p:spPr>
          <a:xfrm>
            <a:off x="995680" y="3681096"/>
            <a:ext cx="1875816"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Build the notch mask with symmetric pairs (u_k, v_k) and (−u_k, −v_k)</a:t>
            </a:r>
            <a:endParaRPr lang="en-US" sz="1300" dirty="0"/>
          </a:p>
        </p:txBody>
      </p:sp>
      <p:pic>
        <p:nvPicPr>
          <p:cNvPr id="21" name="Image 3" descr="arrow-right"/>
          <p:cNvPicPr>
            <a:picLocks noChangeAspect="1"/>
          </p:cNvPicPr>
          <p:nvPr/>
        </p:nvPicPr>
        <p:blipFill>
          <a:blip r:embed="rId3"/>
          <a:srcRect/>
          <a:stretch/>
        </p:blipFill>
        <p:spPr>
          <a:xfrm>
            <a:off x="3152140" y="3890646"/>
            <a:ext cx="304800" cy="152400"/>
          </a:xfrm>
          <a:prstGeom prst="rect">
            <a:avLst/>
          </a:prstGeom>
        </p:spPr>
      </p:pic>
      <p:sp>
        <p:nvSpPr>
          <p:cNvPr id="22" name="Shape 16"/>
          <p:cNvSpPr/>
          <p:nvPr/>
        </p:nvSpPr>
        <p:spPr>
          <a:xfrm>
            <a:off x="3612515" y="3404236"/>
            <a:ext cx="2180590" cy="1125220"/>
          </a:xfrm>
          <a:prstGeom prst="roundRect">
            <a:avLst>
              <a:gd name="adj" fmla="val 8747"/>
            </a:avLst>
          </a:prstGeom>
          <a:solidFill>
            <a:srgbClr val="FBFAF7"/>
          </a:solidFill>
          <a:ln w="6350">
            <a:solidFill>
              <a:srgbClr val="E1DDD3"/>
            </a:solidFill>
            <a:prstDash val="solid"/>
          </a:ln>
        </p:spPr>
      </p:sp>
      <p:sp>
        <p:nvSpPr>
          <p:cNvPr id="23" name="Text 17"/>
          <p:cNvSpPr/>
          <p:nvPr/>
        </p:nvSpPr>
        <p:spPr>
          <a:xfrm>
            <a:off x="3792220" y="3583939"/>
            <a:ext cx="187581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6 · Filter</a:t>
            </a:r>
            <a:endParaRPr lang="en-US" sz="1300" dirty="0"/>
          </a:p>
        </p:txBody>
      </p:sp>
      <p:sp>
        <p:nvSpPr>
          <p:cNvPr id="24" name="Text 18"/>
          <p:cNvSpPr/>
          <p:nvPr/>
        </p:nvSpPr>
        <p:spPr>
          <a:xfrm>
            <a:off x="3792220" y="3903982"/>
            <a:ext cx="187581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Multiply the spectrum by the mask</a:t>
            </a:r>
            <a:endParaRPr lang="en-US" sz="1300" dirty="0"/>
          </a:p>
        </p:txBody>
      </p:sp>
      <p:pic>
        <p:nvPicPr>
          <p:cNvPr id="25" name="Image 4" descr="arrow-right"/>
          <p:cNvPicPr>
            <a:picLocks noChangeAspect="1"/>
          </p:cNvPicPr>
          <p:nvPr/>
        </p:nvPicPr>
        <p:blipFill>
          <a:blip r:embed="rId3"/>
          <a:srcRect/>
          <a:stretch/>
        </p:blipFill>
        <p:spPr>
          <a:xfrm>
            <a:off x="5948680" y="3890646"/>
            <a:ext cx="304800" cy="152400"/>
          </a:xfrm>
          <a:prstGeom prst="rect">
            <a:avLst/>
          </a:prstGeom>
        </p:spPr>
      </p:pic>
      <p:sp>
        <p:nvSpPr>
          <p:cNvPr id="26" name="Shape 19"/>
          <p:cNvSpPr/>
          <p:nvPr/>
        </p:nvSpPr>
        <p:spPr>
          <a:xfrm>
            <a:off x="6409055" y="3404236"/>
            <a:ext cx="2180590" cy="1125220"/>
          </a:xfrm>
          <a:prstGeom prst="roundRect">
            <a:avLst>
              <a:gd name="adj" fmla="val 8747"/>
            </a:avLst>
          </a:prstGeom>
          <a:solidFill>
            <a:srgbClr val="FBFAF7"/>
          </a:solidFill>
          <a:ln w="6350">
            <a:solidFill>
              <a:srgbClr val="E1DDD3"/>
            </a:solidFill>
            <a:prstDash val="solid"/>
          </a:ln>
        </p:spPr>
      </p:sp>
      <p:sp>
        <p:nvSpPr>
          <p:cNvPr id="27" name="Text 20"/>
          <p:cNvSpPr/>
          <p:nvPr/>
        </p:nvSpPr>
        <p:spPr>
          <a:xfrm>
            <a:off x="6588760" y="3583939"/>
            <a:ext cx="187581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7F74"/>
                </a:solidFill>
                <a:latin typeface="DM Sans" pitchFamily="34" charset="0"/>
                <a:ea typeface="DM Sans" pitchFamily="34" charset="-122"/>
                <a:cs typeface="DM Sans" pitchFamily="34" charset="-120"/>
              </a:rPr>
              <a:t>7 · Inverse</a:t>
            </a:r>
            <a:endParaRPr lang="en-US" sz="1300" dirty="0"/>
          </a:p>
        </p:txBody>
      </p:sp>
      <p:sp>
        <p:nvSpPr>
          <p:cNvPr id="28" name="Text 21"/>
          <p:cNvSpPr/>
          <p:nvPr/>
        </p:nvSpPr>
        <p:spPr>
          <a:xfrm>
            <a:off x="6588760" y="3903982"/>
            <a:ext cx="187581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656"/>
                </a:solidFill>
                <a:latin typeface="DM Sans" pitchFamily="34" charset="0"/>
                <a:ea typeface="DM Sans" pitchFamily="34" charset="-122"/>
                <a:cs typeface="DM Sans" pitchFamily="34" charset="-120"/>
              </a:rPr>
              <a:t>Inverse shift, inverse FFT, take the real part</a:t>
            </a:r>
            <a:endParaRPr lang="en-US" sz="1300" dirty="0"/>
          </a:p>
        </p:txBody>
      </p:sp>
      <p:pic>
        <p:nvPicPr>
          <p:cNvPr id="29" name="Image 5" descr="arrow-right"/>
          <p:cNvPicPr>
            <a:picLocks noChangeAspect="1"/>
          </p:cNvPicPr>
          <p:nvPr/>
        </p:nvPicPr>
        <p:blipFill>
          <a:blip r:embed="rId3"/>
          <a:srcRect/>
          <a:stretch/>
        </p:blipFill>
        <p:spPr>
          <a:xfrm>
            <a:off x="8745220" y="3890646"/>
            <a:ext cx="304800" cy="152400"/>
          </a:xfrm>
          <a:prstGeom prst="rect">
            <a:avLst/>
          </a:prstGeom>
        </p:spPr>
      </p:pic>
      <p:sp>
        <p:nvSpPr>
          <p:cNvPr id="30" name="Shape 22"/>
          <p:cNvSpPr/>
          <p:nvPr/>
        </p:nvSpPr>
        <p:spPr>
          <a:xfrm>
            <a:off x="9202420" y="3406139"/>
            <a:ext cx="2176780" cy="1121410"/>
          </a:xfrm>
          <a:prstGeom prst="roundRect">
            <a:avLst>
              <a:gd name="adj" fmla="val 9060"/>
            </a:avLst>
          </a:prstGeom>
          <a:solidFill>
            <a:srgbClr val="0F1B2D"/>
          </a:solidFill>
          <a:ln/>
        </p:spPr>
      </p:sp>
      <p:sp>
        <p:nvSpPr>
          <p:cNvPr id="31" name="Text 23"/>
          <p:cNvSpPr/>
          <p:nvPr/>
        </p:nvSpPr>
        <p:spPr>
          <a:xfrm>
            <a:off x="9380220" y="3583939"/>
            <a:ext cx="187581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CC8B8"/>
                </a:solidFill>
                <a:latin typeface="DM Sans" pitchFamily="34" charset="0"/>
                <a:ea typeface="DM Sans" pitchFamily="34" charset="-122"/>
                <a:cs typeface="DM Sans" pitchFamily="34" charset="-120"/>
              </a:rPr>
              <a:t>8 · Output</a:t>
            </a:r>
            <a:endParaRPr lang="en-US" sz="1300" dirty="0"/>
          </a:p>
        </p:txBody>
      </p:sp>
      <p:sp>
        <p:nvSpPr>
          <p:cNvPr id="32" name="Text 24"/>
          <p:cNvSpPr/>
          <p:nvPr/>
        </p:nvSpPr>
        <p:spPr>
          <a:xfrm>
            <a:off x="9380220" y="3903982"/>
            <a:ext cx="187581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5F3EE"/>
                </a:solidFill>
                <a:latin typeface="DM Sans" pitchFamily="34" charset="0"/>
                <a:ea typeface="DM Sans" pitchFamily="34" charset="-122"/>
                <a:cs typeface="DM Sans" pitchFamily="34" charset="-120"/>
              </a:rPr>
              <a:t>Filtered image shown beside the original</a:t>
            </a:r>
            <a:endParaRPr lang="en-US" sz="1300" dirty="0"/>
          </a:p>
        </p:txBody>
      </p:sp>
      <p:sp>
        <p:nvSpPr>
          <p:cNvPr id="33" name="Text 25"/>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34" name="Text 26"/>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Notch Filter Equations</a:t>
            </a:r>
            <a:endParaRPr lang="en-US" sz="3600" dirty="0"/>
          </a:p>
        </p:txBody>
      </p:sp>
      <p:sp>
        <p:nvSpPr>
          <p:cNvPr id="3" name="Shape 1"/>
          <p:cNvSpPr/>
          <p:nvPr/>
        </p:nvSpPr>
        <p:spPr>
          <a:xfrm>
            <a:off x="815975" y="1547496"/>
            <a:ext cx="10560050" cy="633730"/>
          </a:xfrm>
          <a:prstGeom prst="roundRect">
            <a:avLst>
              <a:gd name="adj" fmla="val 15531"/>
            </a:avLst>
          </a:prstGeom>
          <a:solidFill>
            <a:srgbClr val="FBFAF7"/>
          </a:solidFill>
          <a:ln w="6350">
            <a:solidFill>
              <a:srgbClr val="E1DDD3"/>
            </a:solidFill>
            <a:prstDash val="solid"/>
          </a:ln>
        </p:spPr>
      </p:sp>
      <p:sp>
        <p:nvSpPr>
          <p:cNvPr id="4" name="Text 2"/>
          <p:cNvSpPr/>
          <p:nvPr/>
        </p:nvSpPr>
        <p:spPr>
          <a:xfrm>
            <a:off x="1046480" y="1727200"/>
            <a:ext cx="17018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7F74"/>
                </a:solidFill>
                <a:latin typeface="DM Sans" pitchFamily="34" charset="0"/>
                <a:ea typeface="DM Sans" pitchFamily="34" charset="-122"/>
                <a:cs typeface="DM Sans" pitchFamily="34" charset="-120"/>
              </a:rPr>
              <a:t>Ideal</a:t>
            </a:r>
            <a:endParaRPr lang="en-US" sz="1800" dirty="0"/>
          </a:p>
        </p:txBody>
      </p:sp>
      <p:sp>
        <p:nvSpPr>
          <p:cNvPr id="5" name="Text 3"/>
          <p:cNvSpPr/>
          <p:nvPr/>
        </p:nvSpPr>
        <p:spPr>
          <a:xfrm>
            <a:off x="2900680" y="1739900"/>
            <a:ext cx="612038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H(u,v) = 0 if D_k ≤ D₀ or D_−k ≤ D₀, otherwise 1</a:t>
            </a:r>
            <a:endParaRPr lang="en-US" sz="1400" dirty="0"/>
          </a:p>
        </p:txBody>
      </p:sp>
      <p:sp>
        <p:nvSpPr>
          <p:cNvPr id="6" name="Shape 4"/>
          <p:cNvSpPr/>
          <p:nvPr/>
        </p:nvSpPr>
        <p:spPr>
          <a:xfrm>
            <a:off x="815975" y="2314575"/>
            <a:ext cx="10560050" cy="633730"/>
          </a:xfrm>
          <a:prstGeom prst="roundRect">
            <a:avLst>
              <a:gd name="adj" fmla="val 15531"/>
            </a:avLst>
          </a:prstGeom>
          <a:solidFill>
            <a:srgbClr val="FBFAF7"/>
          </a:solidFill>
          <a:ln w="6350">
            <a:solidFill>
              <a:srgbClr val="E1DDD3"/>
            </a:solidFill>
            <a:prstDash val="solid"/>
          </a:ln>
        </p:spPr>
      </p:sp>
      <p:sp>
        <p:nvSpPr>
          <p:cNvPr id="7" name="Text 5"/>
          <p:cNvSpPr/>
          <p:nvPr/>
        </p:nvSpPr>
        <p:spPr>
          <a:xfrm>
            <a:off x="1046480" y="2494282"/>
            <a:ext cx="17018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7F74"/>
                </a:solidFill>
                <a:latin typeface="DM Sans" pitchFamily="34" charset="0"/>
                <a:ea typeface="DM Sans" pitchFamily="34" charset="-122"/>
                <a:cs typeface="DM Sans" pitchFamily="34" charset="-120"/>
              </a:rPr>
              <a:t>Butterworth</a:t>
            </a:r>
            <a:endParaRPr lang="en-US" sz="1800" dirty="0"/>
          </a:p>
        </p:txBody>
      </p:sp>
      <p:sp>
        <p:nvSpPr>
          <p:cNvPr id="8" name="Text 6"/>
          <p:cNvSpPr/>
          <p:nvPr/>
        </p:nvSpPr>
        <p:spPr>
          <a:xfrm>
            <a:off x="2900680" y="2506982"/>
            <a:ext cx="77845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H(u,v) = ∏ [1 / (1 + (D₀/D_k)^2n)] · [1 / (1 + (D₀/D_−k)^2n)]</a:t>
            </a:r>
            <a:endParaRPr lang="en-US" sz="1400" dirty="0"/>
          </a:p>
        </p:txBody>
      </p:sp>
      <p:sp>
        <p:nvSpPr>
          <p:cNvPr id="9" name="Shape 7"/>
          <p:cNvSpPr/>
          <p:nvPr/>
        </p:nvSpPr>
        <p:spPr>
          <a:xfrm>
            <a:off x="815975" y="3081657"/>
            <a:ext cx="10560050" cy="633730"/>
          </a:xfrm>
          <a:prstGeom prst="roundRect">
            <a:avLst>
              <a:gd name="adj" fmla="val 15531"/>
            </a:avLst>
          </a:prstGeom>
          <a:solidFill>
            <a:srgbClr val="FBFAF7"/>
          </a:solidFill>
          <a:ln w="6350">
            <a:solidFill>
              <a:srgbClr val="E1DDD3"/>
            </a:solidFill>
            <a:prstDash val="solid"/>
          </a:ln>
        </p:spPr>
      </p:sp>
      <p:sp>
        <p:nvSpPr>
          <p:cNvPr id="10" name="Text 8"/>
          <p:cNvSpPr/>
          <p:nvPr/>
        </p:nvSpPr>
        <p:spPr>
          <a:xfrm>
            <a:off x="1046480" y="3261361"/>
            <a:ext cx="170180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7F74"/>
                </a:solidFill>
                <a:latin typeface="DM Sans" pitchFamily="34" charset="0"/>
                <a:ea typeface="DM Sans" pitchFamily="34" charset="-122"/>
                <a:cs typeface="DM Sans" pitchFamily="34" charset="-120"/>
              </a:rPr>
              <a:t>Gaussian</a:t>
            </a:r>
            <a:endParaRPr lang="en-US" sz="1800" dirty="0"/>
          </a:p>
        </p:txBody>
      </p:sp>
      <p:sp>
        <p:nvSpPr>
          <p:cNvPr id="11" name="Text 9"/>
          <p:cNvSpPr/>
          <p:nvPr/>
        </p:nvSpPr>
        <p:spPr>
          <a:xfrm>
            <a:off x="2900680" y="3274061"/>
            <a:ext cx="523646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1B2D"/>
                </a:solidFill>
                <a:latin typeface="JetBrains Mono" pitchFamily="49" charset="0"/>
                <a:ea typeface="JetBrains Mono" pitchFamily="49" charset="-122"/>
                <a:cs typeface="JetBrains Mono" pitchFamily="49" charset="-120"/>
              </a:rPr>
              <a:t>H(u,v) = ∏ [1 − exp(−D_k·D_−k / (2·D₀²))]</a:t>
            </a:r>
            <a:endParaRPr lang="en-US" sz="1400" dirty="0"/>
          </a:p>
        </p:txBody>
      </p:sp>
      <p:sp>
        <p:nvSpPr>
          <p:cNvPr id="12" name="Text 10"/>
          <p:cNvSpPr/>
          <p:nvPr/>
        </p:nvSpPr>
        <p:spPr>
          <a:xfrm>
            <a:off x="812800" y="3947161"/>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D₀ is the notch radius and n the Butterworth order. D_k and D_−k are the distances from (u, v) to each notch centre of a symmetric pair; the product runs over the selected pairs.</a:t>
            </a:r>
            <a:endParaRPr lang="en-US" sz="1400" dirty="0"/>
          </a:p>
        </p:txBody>
      </p:sp>
      <p:sp>
        <p:nvSpPr>
          <p:cNvPr id="13" name="Text 11"/>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4" name="Text 12"/>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Ideal Notch Filter</a:t>
            </a:r>
            <a:endParaRPr lang="en-US" sz="3600" dirty="0"/>
          </a:p>
        </p:txBody>
      </p:sp>
      <p:sp>
        <p:nvSpPr>
          <p:cNvPr id="3" name="Shape 1"/>
          <p:cNvSpPr/>
          <p:nvPr/>
        </p:nvSpPr>
        <p:spPr>
          <a:xfrm>
            <a:off x="812800" y="1569721"/>
            <a:ext cx="6604000" cy="3429000"/>
          </a:xfrm>
          <a:prstGeom prst="roundRect">
            <a:avLst>
              <a:gd name="adj" fmla="val 2222"/>
            </a:avLst>
          </a:prstGeom>
          <a:solidFill>
            <a:srgbClr val="E8E4DA"/>
          </a:solidFill>
          <a:ln/>
        </p:spPr>
      </p:sp>
      <p:pic>
        <p:nvPicPr>
          <p:cNvPr id="4" name="Image 0" descr="Notch Filter GUI with the Ideal filter applied: the original photo of four children on the left and a mostly dark filtered image showing mainly edges on the right"/>
          <p:cNvPicPr>
            <a:picLocks noChangeAspect="1"/>
          </p:cNvPicPr>
          <p:nvPr/>
        </p:nvPicPr>
        <p:blipFill>
          <a:blip r:embed="rId3"/>
          <a:stretch>
            <a:fillRect/>
          </a:stretch>
        </p:blipFill>
        <p:spPr>
          <a:xfrm>
            <a:off x="812800" y="1590952"/>
            <a:ext cx="6604000" cy="3386539"/>
          </a:xfrm>
          <a:custGeom>
            <a:avLst/>
            <a:gdLst/>
            <a:ahLst/>
            <a:cxnLst/>
            <a:rect l="l" t="t" r="r" b="b"/>
            <a:pathLst>
              <a:path w="6604000" h="3386539">
                <a:moveTo>
                  <a:pt x="0" y="54970"/>
                </a:moveTo>
                <a:arcTo wR="76200" hR="76200" stAng="10800000" swAng="2770140"/>
                <a:lnTo>
                  <a:pt x="6580571" y="0"/>
                </a:lnTo>
                <a:arcTo wR="76200" hR="76200" stAng="18829860" swAng="2770140"/>
                <a:lnTo>
                  <a:pt x="6604000" y="3331570"/>
                </a:lnTo>
                <a:arcTo wR="76200" hR="76200" stAng="0" swAng="2770140"/>
                <a:lnTo>
                  <a:pt x="23429" y="3386539"/>
                </a:lnTo>
                <a:arcTo wR="76200" hR="76200" stAng="8029860" swAng="2770140"/>
                <a:close/>
              </a:path>
            </a:pathLst>
          </a:custGeom>
        </p:spPr>
      </p:pic>
      <p:sp>
        <p:nvSpPr>
          <p:cNvPr id="5" name="Shape 2"/>
          <p:cNvSpPr/>
          <p:nvPr/>
        </p:nvSpPr>
        <p:spPr>
          <a:xfrm>
            <a:off x="7673975" y="1572896"/>
            <a:ext cx="3702050" cy="3422650"/>
          </a:xfrm>
          <a:prstGeom prst="roundRect">
            <a:avLst>
              <a:gd name="adj" fmla="val 2876"/>
            </a:avLst>
          </a:prstGeom>
          <a:solidFill>
            <a:srgbClr val="FBFAF7"/>
          </a:solidFill>
          <a:ln w="6350">
            <a:solidFill>
              <a:srgbClr val="E1DDD3"/>
            </a:solidFill>
            <a:prstDash val="solid"/>
          </a:ln>
        </p:spPr>
      </p:sp>
      <p:sp>
        <p:nvSpPr>
          <p:cNvPr id="6" name="Text 3"/>
          <p:cNvSpPr/>
          <p:nvPr/>
        </p:nvSpPr>
        <p:spPr>
          <a:xfrm>
            <a:off x="7904480" y="1803400"/>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Settings</a:t>
            </a:r>
            <a:endParaRPr lang="en-US" sz="1700" dirty="0"/>
          </a:p>
        </p:txBody>
      </p:sp>
      <p:sp>
        <p:nvSpPr>
          <p:cNvPr id="7" name="Text 4"/>
          <p:cNvSpPr/>
          <p:nvPr/>
        </p:nvSpPr>
        <p:spPr>
          <a:xfrm>
            <a:off x="7989062" y="2189479"/>
            <a:ext cx="3246069" cy="77216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Number of points: 6</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Band radius: 121.0</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Order: not used</a:t>
            </a:r>
            <a:endParaRPr lang="en-US" sz="1400" dirty="0"/>
          </a:p>
        </p:txBody>
      </p:sp>
      <p:sp>
        <p:nvSpPr>
          <p:cNvPr id="8" name="Text 5"/>
          <p:cNvSpPr/>
          <p:nvPr/>
        </p:nvSpPr>
        <p:spPr>
          <a:xfrm>
            <a:off x="7904480" y="3063242"/>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Observation</a:t>
            </a:r>
            <a:endParaRPr lang="en-US" sz="1700" dirty="0"/>
          </a:p>
        </p:txBody>
      </p:sp>
      <p:sp>
        <p:nvSpPr>
          <p:cNvPr id="9" name="Text 6"/>
          <p:cNvSpPr/>
          <p:nvPr/>
        </p:nvSpPr>
        <p:spPr>
          <a:xfrm>
            <a:off x="7904480" y="3449321"/>
            <a:ext cx="333827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The output is mostly dark with only face and outline edges left, so this hard cutoff removed a large share of the image content.</a:t>
            </a:r>
            <a:endParaRPr lang="en-US" sz="1400" dirty="0"/>
          </a:p>
        </p:txBody>
      </p:sp>
      <p:sp>
        <p:nvSpPr>
          <p:cNvPr id="10" name="Text 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1" name="Text 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Butterworth Notch Filter</a:t>
            </a:r>
            <a:endParaRPr lang="en-US" sz="3600" dirty="0"/>
          </a:p>
        </p:txBody>
      </p:sp>
      <p:sp>
        <p:nvSpPr>
          <p:cNvPr id="3" name="Shape 1"/>
          <p:cNvSpPr/>
          <p:nvPr/>
        </p:nvSpPr>
        <p:spPr>
          <a:xfrm>
            <a:off x="812800" y="1569721"/>
            <a:ext cx="6604000" cy="3429000"/>
          </a:xfrm>
          <a:prstGeom prst="roundRect">
            <a:avLst>
              <a:gd name="adj" fmla="val 2222"/>
            </a:avLst>
          </a:prstGeom>
          <a:solidFill>
            <a:srgbClr val="E8E4DA"/>
          </a:solidFill>
          <a:ln/>
        </p:spPr>
      </p:sp>
      <p:pic>
        <p:nvPicPr>
          <p:cNvPr id="4" name="Image 0" descr="Notch Filter GUI with the Butterworth filter applied: the original photo of four children on the left and a darker but fully detailed filtered image on the right"/>
          <p:cNvPicPr>
            <a:picLocks noChangeAspect="1"/>
          </p:cNvPicPr>
          <p:nvPr/>
        </p:nvPicPr>
        <p:blipFill>
          <a:blip r:embed="rId3"/>
          <a:stretch>
            <a:fillRect/>
          </a:stretch>
        </p:blipFill>
        <p:spPr>
          <a:xfrm>
            <a:off x="812800" y="1701650"/>
            <a:ext cx="6604000" cy="3165142"/>
          </a:xfrm>
          <a:prstGeom prst="rect">
            <a:avLst/>
          </a:prstGeom>
        </p:spPr>
      </p:pic>
      <p:sp>
        <p:nvSpPr>
          <p:cNvPr id="5" name="Shape 2"/>
          <p:cNvSpPr/>
          <p:nvPr/>
        </p:nvSpPr>
        <p:spPr>
          <a:xfrm>
            <a:off x="7673975" y="1572896"/>
            <a:ext cx="3702050" cy="3422650"/>
          </a:xfrm>
          <a:prstGeom prst="roundRect">
            <a:avLst>
              <a:gd name="adj" fmla="val 2876"/>
            </a:avLst>
          </a:prstGeom>
          <a:solidFill>
            <a:srgbClr val="FBFAF7"/>
          </a:solidFill>
          <a:ln w="6350">
            <a:solidFill>
              <a:srgbClr val="E1DDD3"/>
            </a:solidFill>
            <a:prstDash val="solid"/>
          </a:ln>
        </p:spPr>
      </p:sp>
      <p:sp>
        <p:nvSpPr>
          <p:cNvPr id="6" name="Text 3"/>
          <p:cNvSpPr/>
          <p:nvPr/>
        </p:nvSpPr>
        <p:spPr>
          <a:xfrm>
            <a:off x="7904480" y="1803400"/>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Settings</a:t>
            </a:r>
            <a:endParaRPr lang="en-US" sz="1700" dirty="0"/>
          </a:p>
        </p:txBody>
      </p:sp>
      <p:sp>
        <p:nvSpPr>
          <p:cNvPr id="7" name="Text 4"/>
          <p:cNvSpPr/>
          <p:nvPr/>
        </p:nvSpPr>
        <p:spPr>
          <a:xfrm>
            <a:off x="7989062" y="2189479"/>
            <a:ext cx="3246069" cy="77216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Number of points: 6</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Band radius: 121.0</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Order: 1</a:t>
            </a:r>
            <a:endParaRPr lang="en-US" sz="1400" dirty="0"/>
          </a:p>
        </p:txBody>
      </p:sp>
      <p:sp>
        <p:nvSpPr>
          <p:cNvPr id="8" name="Text 5"/>
          <p:cNvSpPr/>
          <p:nvPr/>
        </p:nvSpPr>
        <p:spPr>
          <a:xfrm>
            <a:off x="7904480" y="3063242"/>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Observation</a:t>
            </a:r>
            <a:endParaRPr lang="en-US" sz="1700" dirty="0"/>
          </a:p>
        </p:txBody>
      </p:sp>
      <p:sp>
        <p:nvSpPr>
          <p:cNvPr id="9" name="Text 6"/>
          <p:cNvSpPr/>
          <p:nvPr/>
        </p:nvSpPr>
        <p:spPr>
          <a:xfrm>
            <a:off x="7904480" y="3449321"/>
            <a:ext cx="333827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Faces and clothing keep their structure, but the image is darker overall. The smooth order-1 transition is gentler than the Ideal cutoff.</a:t>
            </a:r>
            <a:endParaRPr lang="en-US" sz="1400" dirty="0"/>
          </a:p>
        </p:txBody>
      </p:sp>
      <p:sp>
        <p:nvSpPr>
          <p:cNvPr id="10" name="Text 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1" name="Text 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Gaussian Notch Filter</a:t>
            </a:r>
            <a:endParaRPr lang="en-US" sz="3600" dirty="0"/>
          </a:p>
        </p:txBody>
      </p:sp>
      <p:sp>
        <p:nvSpPr>
          <p:cNvPr id="3" name="Shape 1"/>
          <p:cNvSpPr/>
          <p:nvPr/>
        </p:nvSpPr>
        <p:spPr>
          <a:xfrm>
            <a:off x="812800" y="1569721"/>
            <a:ext cx="6604000" cy="3429000"/>
          </a:xfrm>
          <a:prstGeom prst="roundRect">
            <a:avLst>
              <a:gd name="adj" fmla="val 2222"/>
            </a:avLst>
          </a:prstGeom>
          <a:solidFill>
            <a:srgbClr val="E8E4DA"/>
          </a:solidFill>
          <a:ln/>
        </p:spPr>
      </p:sp>
      <p:pic>
        <p:nvPicPr>
          <p:cNvPr id="4" name="Image 0" descr="Notch Filter GUI with the Gaussian filter applied: the original photo of four children on the left and a filtered image on the right that looks almost identical"/>
          <p:cNvPicPr>
            <a:picLocks noChangeAspect="1"/>
          </p:cNvPicPr>
          <p:nvPr/>
        </p:nvPicPr>
        <p:blipFill>
          <a:blip r:embed="rId3"/>
          <a:stretch>
            <a:fillRect/>
          </a:stretch>
        </p:blipFill>
        <p:spPr>
          <a:xfrm>
            <a:off x="812800" y="1600849"/>
            <a:ext cx="6604000" cy="3366745"/>
          </a:xfrm>
          <a:custGeom>
            <a:avLst/>
            <a:gdLst/>
            <a:ahLst/>
            <a:cxnLst/>
            <a:rect l="l" t="t" r="r" b="b"/>
            <a:pathLst>
              <a:path w="6604000" h="3366745">
                <a:moveTo>
                  <a:pt x="0" y="45073"/>
                </a:moveTo>
                <a:arcTo wR="76200" hR="76200" stAng="10800000" swAng="2175825"/>
                <a:lnTo>
                  <a:pt x="6589240" y="0"/>
                </a:lnTo>
                <a:arcTo wR="76200" hR="76200" stAng="19424175" swAng="2175825"/>
                <a:lnTo>
                  <a:pt x="6604000" y="3321673"/>
                </a:lnTo>
                <a:arcTo wR="76200" hR="76200" stAng="0" swAng="2175825"/>
                <a:lnTo>
                  <a:pt x="14760" y="3366745"/>
                </a:lnTo>
                <a:arcTo wR="76200" hR="76200" stAng="8624175" swAng="2175825"/>
                <a:close/>
              </a:path>
            </a:pathLst>
          </a:custGeom>
        </p:spPr>
      </p:pic>
      <p:sp>
        <p:nvSpPr>
          <p:cNvPr id="5" name="Shape 2"/>
          <p:cNvSpPr/>
          <p:nvPr/>
        </p:nvSpPr>
        <p:spPr>
          <a:xfrm>
            <a:off x="7673975" y="1572896"/>
            <a:ext cx="3702050" cy="3422650"/>
          </a:xfrm>
          <a:prstGeom prst="roundRect">
            <a:avLst>
              <a:gd name="adj" fmla="val 2876"/>
            </a:avLst>
          </a:prstGeom>
          <a:solidFill>
            <a:srgbClr val="FBFAF7"/>
          </a:solidFill>
          <a:ln w="6350">
            <a:solidFill>
              <a:srgbClr val="E1DDD3"/>
            </a:solidFill>
            <a:prstDash val="solid"/>
          </a:ln>
        </p:spPr>
      </p:sp>
      <p:sp>
        <p:nvSpPr>
          <p:cNvPr id="6" name="Text 3"/>
          <p:cNvSpPr/>
          <p:nvPr/>
        </p:nvSpPr>
        <p:spPr>
          <a:xfrm>
            <a:off x="7904480" y="1803400"/>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Settings</a:t>
            </a:r>
            <a:endParaRPr lang="en-US" sz="1700" dirty="0"/>
          </a:p>
        </p:txBody>
      </p:sp>
      <p:sp>
        <p:nvSpPr>
          <p:cNvPr id="7" name="Text 4"/>
          <p:cNvSpPr/>
          <p:nvPr/>
        </p:nvSpPr>
        <p:spPr>
          <a:xfrm>
            <a:off x="7989062" y="2189479"/>
            <a:ext cx="3246069" cy="77216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Number of points: 6</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Band radius: 121.0</a:t>
            </a:r>
            <a:endParaRPr lang="en-US" sz="1400" dirty="0"/>
          </a:p>
          <a:p>
            <a:pPr marL="169418" indent="-169418" algn="l">
              <a:lnSpc>
                <a:spcPts val="1960"/>
              </a:lnSpc>
              <a:buSzPct val="100000"/>
              <a:buChar char="•"/>
            </a:pPr>
            <a:r>
              <a:rPr lang="en-US" sz="1400" dirty="0">
                <a:solidFill>
                  <a:srgbClr val="3A4656"/>
                </a:solidFill>
                <a:latin typeface="DM Sans" pitchFamily="34" charset="0"/>
                <a:ea typeface="DM Sans" pitchFamily="34" charset="-122"/>
                <a:cs typeface="DM Sans" pitchFamily="34" charset="-120"/>
              </a:rPr>
              <a:t>Order: not used</a:t>
            </a:r>
            <a:endParaRPr lang="en-US" sz="1400" dirty="0"/>
          </a:p>
        </p:txBody>
      </p:sp>
      <p:sp>
        <p:nvSpPr>
          <p:cNvPr id="8" name="Text 5"/>
          <p:cNvSpPr/>
          <p:nvPr/>
        </p:nvSpPr>
        <p:spPr>
          <a:xfrm>
            <a:off x="7904480" y="3063242"/>
            <a:ext cx="333827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7F74"/>
                </a:solidFill>
                <a:latin typeface="DM Sans" pitchFamily="34" charset="0"/>
                <a:ea typeface="DM Sans" pitchFamily="34" charset="-122"/>
                <a:cs typeface="DM Sans" pitchFamily="34" charset="-120"/>
              </a:rPr>
              <a:t>Observation</a:t>
            </a:r>
            <a:endParaRPr lang="en-US" sz="1700" dirty="0"/>
          </a:p>
        </p:txBody>
      </p:sp>
      <p:sp>
        <p:nvSpPr>
          <p:cNvPr id="9" name="Text 6"/>
          <p:cNvSpPr/>
          <p:nvPr/>
        </p:nvSpPr>
        <p:spPr>
          <a:xfrm>
            <a:off x="7904480" y="3449321"/>
            <a:ext cx="333827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The output stays very close to the input. The smooth Gaussian transition changes the image far less than the other two filters at this radius.</a:t>
            </a:r>
            <a:endParaRPr lang="en-US" sz="1400" dirty="0"/>
          </a:p>
        </p:txBody>
      </p:sp>
      <p:sp>
        <p:nvSpPr>
          <p:cNvPr id="10" name="Text 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1" name="Text 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All Three Filters, Same Image</a:t>
            </a:r>
            <a:endParaRPr lang="en-US" sz="3600" dirty="0"/>
          </a:p>
        </p:txBody>
      </p:sp>
      <p:pic>
        <p:nvPicPr>
          <p:cNvPr id="3" name="Image 0" descr="Original photo of four children"/>
          <p:cNvPicPr>
            <a:picLocks noChangeAspect="1"/>
          </p:cNvPicPr>
          <p:nvPr/>
        </p:nvPicPr>
        <p:blipFill>
          <a:blip r:embed="rId3"/>
          <a:srcRect t="4" b="4"/>
          <a:stretch/>
        </p:blipFill>
        <p:spPr>
          <a:xfrm>
            <a:off x="812800" y="1569721"/>
            <a:ext cx="2527300" cy="1816100"/>
          </a:xfrm>
          <a:prstGeom prst="roundRect">
            <a:avLst>
              <a:gd name="adj" fmla="val 4196"/>
            </a:avLst>
          </a:prstGeom>
        </p:spPr>
      </p:pic>
      <p:sp>
        <p:nvSpPr>
          <p:cNvPr id="4" name="Text 1"/>
          <p:cNvSpPr/>
          <p:nvPr/>
        </p:nvSpPr>
        <p:spPr>
          <a:xfrm>
            <a:off x="812800" y="3474721"/>
            <a:ext cx="26031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7F74"/>
                </a:solidFill>
                <a:latin typeface="DM Sans" pitchFamily="34" charset="0"/>
                <a:ea typeface="DM Sans" pitchFamily="34" charset="-122"/>
                <a:cs typeface="DM Sans" pitchFamily="34" charset="-120"/>
              </a:rPr>
              <a:t>Original</a:t>
            </a:r>
            <a:endParaRPr lang="en-US" sz="1400" dirty="0"/>
          </a:p>
        </p:txBody>
      </p:sp>
      <p:pic>
        <p:nvPicPr>
          <p:cNvPr id="5" name="Image 1" descr="Ideal notch filter output: mostly dark with edges only"/>
          <p:cNvPicPr>
            <a:picLocks noChangeAspect="1"/>
          </p:cNvPicPr>
          <p:nvPr/>
        </p:nvPicPr>
        <p:blipFill>
          <a:blip r:embed="rId4"/>
          <a:srcRect t="4" b="4"/>
          <a:stretch/>
        </p:blipFill>
        <p:spPr>
          <a:xfrm>
            <a:off x="3492500" y="1569721"/>
            <a:ext cx="2527300" cy="1816100"/>
          </a:xfrm>
          <a:prstGeom prst="roundRect">
            <a:avLst>
              <a:gd name="adj" fmla="val 4196"/>
            </a:avLst>
          </a:prstGeom>
        </p:spPr>
      </p:pic>
      <p:sp>
        <p:nvSpPr>
          <p:cNvPr id="6" name="Text 2"/>
          <p:cNvSpPr/>
          <p:nvPr/>
        </p:nvSpPr>
        <p:spPr>
          <a:xfrm>
            <a:off x="3492500" y="3474721"/>
            <a:ext cx="26031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7F74"/>
                </a:solidFill>
                <a:latin typeface="DM Sans" pitchFamily="34" charset="0"/>
                <a:ea typeface="DM Sans" pitchFamily="34" charset="-122"/>
                <a:cs typeface="DM Sans" pitchFamily="34" charset="-120"/>
              </a:rPr>
              <a:t>Ideal</a:t>
            </a:r>
            <a:endParaRPr lang="en-US" sz="1400" dirty="0"/>
          </a:p>
        </p:txBody>
      </p:sp>
      <p:pic>
        <p:nvPicPr>
          <p:cNvPr id="7" name="Image 2" descr="Butterworth notch filter output: darker image with structure kept"/>
          <p:cNvPicPr>
            <a:picLocks noChangeAspect="1"/>
          </p:cNvPicPr>
          <p:nvPr/>
        </p:nvPicPr>
        <p:blipFill>
          <a:blip r:embed="rId5"/>
          <a:srcRect t="4" b="4"/>
          <a:stretch/>
        </p:blipFill>
        <p:spPr>
          <a:xfrm>
            <a:off x="6172200" y="1569721"/>
            <a:ext cx="2527300" cy="1816100"/>
          </a:xfrm>
          <a:prstGeom prst="roundRect">
            <a:avLst>
              <a:gd name="adj" fmla="val 4196"/>
            </a:avLst>
          </a:prstGeom>
        </p:spPr>
      </p:pic>
      <p:sp>
        <p:nvSpPr>
          <p:cNvPr id="8" name="Text 3"/>
          <p:cNvSpPr/>
          <p:nvPr/>
        </p:nvSpPr>
        <p:spPr>
          <a:xfrm>
            <a:off x="6172200" y="3474721"/>
            <a:ext cx="26031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7F74"/>
                </a:solidFill>
                <a:latin typeface="DM Sans" pitchFamily="34" charset="0"/>
                <a:ea typeface="DM Sans" pitchFamily="34" charset="-122"/>
                <a:cs typeface="DM Sans" pitchFamily="34" charset="-120"/>
              </a:rPr>
              <a:t>Butterworth (n = 1)</a:t>
            </a:r>
            <a:endParaRPr lang="en-US" sz="1400" dirty="0"/>
          </a:p>
        </p:txBody>
      </p:sp>
      <p:pic>
        <p:nvPicPr>
          <p:cNvPr id="9" name="Image 3" descr="Gaussian notch filter output: almost identical to the original"/>
          <p:cNvPicPr>
            <a:picLocks noChangeAspect="1"/>
          </p:cNvPicPr>
          <p:nvPr/>
        </p:nvPicPr>
        <p:blipFill>
          <a:blip r:embed="rId6"/>
          <a:srcRect t="4" b="4"/>
          <a:stretch/>
        </p:blipFill>
        <p:spPr>
          <a:xfrm>
            <a:off x="8851900" y="1569721"/>
            <a:ext cx="2527300" cy="1816100"/>
          </a:xfrm>
          <a:prstGeom prst="roundRect">
            <a:avLst>
              <a:gd name="adj" fmla="val 4196"/>
            </a:avLst>
          </a:prstGeom>
        </p:spPr>
      </p:pic>
      <p:sp>
        <p:nvSpPr>
          <p:cNvPr id="10" name="Text 4"/>
          <p:cNvSpPr/>
          <p:nvPr/>
        </p:nvSpPr>
        <p:spPr>
          <a:xfrm>
            <a:off x="8851900" y="3474721"/>
            <a:ext cx="260311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7F74"/>
                </a:solidFill>
                <a:latin typeface="DM Sans" pitchFamily="34" charset="0"/>
                <a:ea typeface="DM Sans" pitchFamily="34" charset="-122"/>
                <a:cs typeface="DM Sans" pitchFamily="34" charset="-120"/>
              </a:rPr>
              <a:t>Gaussian</a:t>
            </a:r>
            <a:endParaRPr lang="en-US" sz="1400" dirty="0"/>
          </a:p>
        </p:txBody>
      </p:sp>
      <p:sp>
        <p:nvSpPr>
          <p:cNvPr id="11" name="Text 5"/>
          <p:cNvSpPr/>
          <p:nvPr/>
        </p:nvSpPr>
        <p:spPr>
          <a:xfrm>
            <a:off x="812800" y="3977642"/>
            <a:ext cx="10566400" cy="568960"/>
          </a:xfrm>
          <a:prstGeom prst="roundRect">
            <a:avLst>
              <a:gd name="adj" fmla="val 17857"/>
            </a:avLst>
          </a:prstGeom>
          <a:solidFill>
            <a:srgbClr val="0F1B2D"/>
          </a:solidFill>
          <a:ln/>
        </p:spPr>
        <p:txBody>
          <a:bodyPr wrap="square" lIns="198842" tIns="122642" rIns="0" bIns="97242" rtlCol="0" anchor="t">
            <a:normAutofit/>
          </a:bodyPr>
          <a:lstStyle/>
          <a:p>
            <a:pPr marL="0" indent="0" algn="l">
              <a:lnSpc>
                <a:spcPts val="2080"/>
              </a:lnSpc>
              <a:buNone/>
            </a:pPr>
            <a:r>
              <a:rPr lang="en-US" sz="1600" dirty="0">
                <a:solidFill>
                  <a:srgbClr val="F5F3EE"/>
                </a:solidFill>
                <a:latin typeface="DM Sans" pitchFamily="34" charset="0"/>
                <a:ea typeface="DM Sans" pitchFamily="34" charset="-122"/>
                <a:cs typeface="DM Sans" pitchFamily="34" charset="-120"/>
              </a:rPr>
              <a:t>Same image and settings throughout: 6 points, band radius 121.0, Butterworth order 1.</a:t>
            </a:r>
            <a:endParaRPr lang="en-US" sz="1600" dirty="0"/>
          </a:p>
        </p:txBody>
      </p:sp>
      <p:sp>
        <p:nvSpPr>
          <p:cNvPr id="12" name="Text 6"/>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3" name="Text 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Key Observations and Comparison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1"/>
          <a:ext cx="10556240" cy="2280920"/>
        </p:xfrm>
        <a:graphic>
          <a:graphicData uri="http://schemas.openxmlformats.org/drawingml/2006/table">
            <a:tbl>
              <a:tblPr/>
              <a:tblGrid>
                <a:gridCol w="1688998">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3166872">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1F2A3A"/>
                          </a:solidFill>
                          <a:latin typeface="DM Sans" pitchFamily="34" charset="0"/>
                          <a:ea typeface="DM Sans" pitchFamily="34" charset="-122"/>
                          <a:cs typeface="DM Sans" pitchFamily="34" charset="-120"/>
                        </a:rPr>
                        <a:t>Filter</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F2A3A"/>
                          </a:solidFill>
                          <a:latin typeface="DM Sans" pitchFamily="34" charset="0"/>
                          <a:ea typeface="DM Sans" pitchFamily="34" charset="-122"/>
                          <a:cs typeface="DM Sans" pitchFamily="34" charset="-120"/>
                        </a:rPr>
                        <a:t>Noise removal</a:t>
                      </a:r>
                      <a:endParaRPr lang="en-US" sz="1400" dirty="0">
                        <a:latin typeface="DM Sans" charset="0"/>
                        <a:ea typeface="DM Sans" charset="0"/>
                        <a:cs typeface="DM Sans" charset="0"/>
                      </a:endParaRPr>
                    </a:p>
                  </a:txBody>
                  <a:tcPr marL="62230" marR="62230" marT="62230" marB="6223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F2A3A"/>
                          </a:solidFill>
                          <a:latin typeface="DM Sans" pitchFamily="34" charset="0"/>
                          <a:ea typeface="DM Sans" pitchFamily="34" charset="-122"/>
                          <a:cs typeface="DM Sans" pitchFamily="34" charset="-120"/>
                        </a:rPr>
                        <a:t>Ringing</a:t>
                      </a:r>
                      <a:endParaRPr lang="en-US" sz="1400" dirty="0">
                        <a:latin typeface="DM Sans" charset="0"/>
                        <a:ea typeface="DM Sans" charset="0"/>
                        <a:cs typeface="DM Sans" charset="0"/>
                      </a:endParaRPr>
                    </a:p>
                  </a:txBody>
                  <a:tcPr marL="62230" marR="62230" marT="62230" marB="6223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F2A3A"/>
                          </a:solidFill>
                          <a:latin typeface="DM Sans" pitchFamily="34" charset="0"/>
                          <a:ea typeface="DM Sans" pitchFamily="34" charset="-122"/>
                          <a:cs typeface="DM Sans" pitchFamily="34" charset="-120"/>
                        </a:rPr>
                        <a:t>Parameters</a:t>
                      </a:r>
                      <a:endParaRPr lang="en-US" sz="1400" dirty="0">
                        <a:latin typeface="DM Sans" charset="0"/>
                        <a:ea typeface="DM Sans" charset="0"/>
                        <a:cs typeface="DM Sans" charset="0"/>
                      </a:endParaRPr>
                    </a:p>
                  </a:txBody>
                  <a:tcPr marL="62230" marR="62230" marT="62230" marB="6223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Ideal</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Strongest effect; removed most image content at radius 121</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Expected highest, from the sharp cutoff</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D₀</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Butterworth</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Moderate effect at order 1; structure kept</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Expected moderate, tunable with the order</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D₀, n</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Gaussian</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Weakest effect; output close to the input</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Expected none, smooth transition</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F2A3A"/>
                          </a:solidFill>
                          <a:latin typeface="DM Sans" pitchFamily="34" charset="0"/>
                          <a:ea typeface="DM Sans" pitchFamily="34" charset="-122"/>
                          <a:cs typeface="DM Sans" pitchFamily="34" charset="-120"/>
                        </a:rPr>
                        <a:t>D₀</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2800" y="4114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656"/>
                </a:solidFill>
                <a:latin typeface="DM Sans" pitchFamily="34" charset="0"/>
                <a:ea typeface="DM Sans" pitchFamily="34" charset="-122"/>
                <a:cs typeface="DM Sans" pitchFamily="34" charset="-120"/>
              </a:rPr>
              <a:t>Noise removal entries come from the screenshots. Ringing entries are the usual expected trends, not measured here.</a:t>
            </a:r>
            <a:endParaRPr lang="en-US" sz="1400" dirty="0"/>
          </a:p>
        </p:txBody>
      </p:sp>
      <p:sp>
        <p:nvSpPr>
          <p:cNvPr id="5" name="Text 2"/>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6" name="Text 3"/>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Conclusion and Future Work</a:t>
            </a:r>
            <a:endParaRPr lang="en-US" sz="3600" dirty="0"/>
          </a:p>
        </p:txBody>
      </p:sp>
      <p:sp>
        <p:nvSpPr>
          <p:cNvPr id="3" name="Shape 1"/>
          <p:cNvSpPr/>
          <p:nvPr/>
        </p:nvSpPr>
        <p:spPr>
          <a:xfrm>
            <a:off x="812800" y="1620521"/>
            <a:ext cx="5176520" cy="4221480"/>
          </a:xfrm>
          <a:prstGeom prst="roundRect">
            <a:avLst>
              <a:gd name="adj" fmla="val 3008"/>
            </a:avLst>
          </a:prstGeom>
          <a:solidFill>
            <a:srgbClr val="0F1B2D"/>
          </a:solidFill>
          <a:ln/>
        </p:spPr>
      </p:sp>
      <p:sp>
        <p:nvSpPr>
          <p:cNvPr id="4" name="Text 2"/>
          <p:cNvSpPr/>
          <p:nvPr/>
        </p:nvSpPr>
        <p:spPr>
          <a:xfrm>
            <a:off x="1092200" y="1899921"/>
            <a:ext cx="4756252"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5CC8B8"/>
                </a:solidFill>
                <a:latin typeface="DM Sans" pitchFamily="34" charset="0"/>
                <a:ea typeface="DM Sans" pitchFamily="34" charset="-122"/>
                <a:cs typeface="DM Sans" pitchFamily="34" charset="-120"/>
              </a:rPr>
              <a:t>Conclusion</a:t>
            </a:r>
            <a:endParaRPr lang="en-US" sz="1900" dirty="0"/>
          </a:p>
        </p:txBody>
      </p:sp>
      <p:sp>
        <p:nvSpPr>
          <p:cNvPr id="5" name="Text 3"/>
          <p:cNvSpPr/>
          <p:nvPr/>
        </p:nvSpPr>
        <p:spPr>
          <a:xfrm>
            <a:off x="1163320" y="2341879"/>
            <a:ext cx="4677512" cy="21590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F5F3EE"/>
                </a:solidFill>
                <a:latin typeface="DM Sans" pitchFamily="34" charset="0"/>
                <a:ea typeface="DM Sans" pitchFamily="34" charset="-122"/>
                <a:cs typeface="DM Sans" pitchFamily="34" charset="-120"/>
              </a:rPr>
              <a:t>Notch filters remove periodic noise by suppressing only the noise frequencies.</a:t>
            </a:r>
            <a:endParaRPr lang="en-US" sz="1500" dirty="0"/>
          </a:p>
          <a:p>
            <a:pPr marL="182880" indent="-182880" algn="l">
              <a:lnSpc>
                <a:spcPts val="2100"/>
              </a:lnSpc>
              <a:buSzPct val="100000"/>
              <a:buChar char="•"/>
            </a:pPr>
            <a:r>
              <a:rPr lang="en-US" sz="1500" dirty="0">
                <a:solidFill>
                  <a:srgbClr val="F5F3EE"/>
                </a:solidFill>
                <a:latin typeface="DM Sans" pitchFamily="34" charset="0"/>
                <a:ea typeface="DM Sans" pitchFamily="34" charset="-122"/>
                <a:cs typeface="DM Sans" pitchFamily="34" charset="-120"/>
              </a:rPr>
              <a:t>Three variants were implemented: Ideal, Butterworth (variable order) and Gaussian.</a:t>
            </a:r>
            <a:endParaRPr lang="en-US" sz="1500" dirty="0"/>
          </a:p>
          <a:p>
            <a:pPr marL="182880" indent="-182880" algn="l">
              <a:lnSpc>
                <a:spcPts val="2100"/>
              </a:lnSpc>
              <a:buSzPct val="100000"/>
              <a:buChar char="•"/>
            </a:pPr>
            <a:r>
              <a:rPr lang="en-US" sz="1500" dirty="0">
                <a:solidFill>
                  <a:srgbClr val="F5F3EE"/>
                </a:solidFill>
                <a:latin typeface="DM Sans" pitchFamily="34" charset="0"/>
                <a:ea typeface="DM Sans" pitchFamily="34" charset="-122"/>
                <a:cs typeface="DM Sans" pitchFamily="34" charset="-120"/>
              </a:rPr>
              <a:t>Filter choice trades sharpness against ringing; notch radius and order strongly affect quality.</a:t>
            </a:r>
            <a:endParaRPr lang="en-US" sz="1500" dirty="0"/>
          </a:p>
          <a:p>
            <a:pPr marL="182880" indent="-182880" algn="l">
              <a:lnSpc>
                <a:spcPts val="2100"/>
              </a:lnSpc>
              <a:buSzPct val="100000"/>
              <a:buChar char="•"/>
            </a:pPr>
            <a:r>
              <a:rPr lang="en-US" sz="1500" dirty="0">
                <a:solidFill>
                  <a:srgbClr val="F5F3EE"/>
                </a:solidFill>
                <a:latin typeface="DM Sans" pitchFamily="34" charset="0"/>
                <a:ea typeface="DM Sans" pitchFamily="34" charset="-122"/>
                <a:cs typeface="DM Sans" pitchFamily="34" charset="-120"/>
              </a:rPr>
              <a:t>The interactive GUI makes point selection and comparison easy.</a:t>
            </a:r>
            <a:endParaRPr lang="en-US" sz="1500" dirty="0"/>
          </a:p>
        </p:txBody>
      </p:sp>
      <p:sp>
        <p:nvSpPr>
          <p:cNvPr id="6" name="Shape 4"/>
          <p:cNvSpPr/>
          <p:nvPr/>
        </p:nvSpPr>
        <p:spPr>
          <a:xfrm>
            <a:off x="6195695" y="1623696"/>
            <a:ext cx="5180330" cy="4215130"/>
          </a:xfrm>
          <a:prstGeom prst="roundRect">
            <a:avLst>
              <a:gd name="adj" fmla="val 2938"/>
            </a:avLst>
          </a:prstGeom>
          <a:solidFill>
            <a:srgbClr val="FBFAF7"/>
          </a:solidFill>
          <a:ln w="6350">
            <a:solidFill>
              <a:srgbClr val="E1DDD3"/>
            </a:solidFill>
            <a:prstDash val="solid"/>
          </a:ln>
        </p:spPr>
      </p:sp>
      <p:sp>
        <p:nvSpPr>
          <p:cNvPr id="7" name="Text 5"/>
          <p:cNvSpPr/>
          <p:nvPr/>
        </p:nvSpPr>
        <p:spPr>
          <a:xfrm>
            <a:off x="6477000" y="1905000"/>
            <a:ext cx="4756252"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E7F74"/>
                </a:solidFill>
                <a:latin typeface="DM Sans" pitchFamily="34" charset="0"/>
                <a:ea typeface="DM Sans" pitchFamily="34" charset="-122"/>
                <a:cs typeface="DM Sans" pitchFamily="34" charset="-120"/>
              </a:rPr>
              <a:t>Future work</a:t>
            </a:r>
            <a:endParaRPr lang="en-US" sz="1900" dirty="0"/>
          </a:p>
        </p:txBody>
      </p:sp>
      <p:sp>
        <p:nvSpPr>
          <p:cNvPr id="8" name="Text 6"/>
          <p:cNvSpPr/>
          <p:nvPr/>
        </p:nvSpPr>
        <p:spPr>
          <a:xfrm>
            <a:off x="6548120" y="2346964"/>
            <a:ext cx="4677512" cy="16256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3A4656"/>
                </a:solidFill>
                <a:latin typeface="DM Sans" pitchFamily="34" charset="0"/>
                <a:ea typeface="DM Sans" pitchFamily="34" charset="-122"/>
                <a:cs typeface="DM Sans" pitchFamily="34" charset="-120"/>
              </a:rPr>
              <a:t>Automatic detection of noise spikes (peak detection in the spectrum).</a:t>
            </a:r>
            <a:endParaRPr lang="en-US" sz="1500" dirty="0"/>
          </a:p>
          <a:p>
            <a:pPr marL="182880" indent="-182880" algn="l">
              <a:lnSpc>
                <a:spcPts val="2100"/>
              </a:lnSpc>
              <a:buSzPct val="100000"/>
              <a:buChar char="•"/>
            </a:pPr>
            <a:r>
              <a:rPr lang="en-US" sz="1500" dirty="0">
                <a:solidFill>
                  <a:srgbClr val="3A4656"/>
                </a:solidFill>
                <a:latin typeface="DM Sans" pitchFamily="34" charset="0"/>
                <a:ea typeface="DM Sans" pitchFamily="34" charset="-122"/>
                <a:cs typeface="DM Sans" pitchFamily="34" charset="-120"/>
              </a:rPr>
              <a:t>Color image support.</a:t>
            </a:r>
            <a:endParaRPr lang="en-US" sz="1500" dirty="0"/>
          </a:p>
          <a:p>
            <a:pPr marL="182880" indent="-182880" algn="l">
              <a:lnSpc>
                <a:spcPts val="2100"/>
              </a:lnSpc>
              <a:buSzPct val="100000"/>
              <a:buChar char="•"/>
            </a:pPr>
            <a:r>
              <a:rPr lang="en-US" sz="1500" dirty="0">
                <a:solidFill>
                  <a:srgbClr val="3A4656"/>
                </a:solidFill>
                <a:latin typeface="DM Sans" pitchFamily="34" charset="0"/>
                <a:ea typeface="DM Sans" pitchFamily="34" charset="-122"/>
                <a:cs typeface="DM Sans" pitchFamily="34" charset="-120"/>
              </a:rPr>
              <a:t>Quantitative metrics (PSNR, SSIM) and batch processing.</a:t>
            </a:r>
            <a:endParaRPr lang="en-US" sz="1500" dirty="0"/>
          </a:p>
          <a:p>
            <a:pPr marL="182880" indent="-182880" algn="l">
              <a:lnSpc>
                <a:spcPts val="2100"/>
              </a:lnSpc>
              <a:buSzPct val="100000"/>
              <a:buChar char="•"/>
            </a:pPr>
            <a:r>
              <a:rPr lang="en-US" sz="1500" dirty="0">
                <a:solidFill>
                  <a:srgbClr val="3A4656"/>
                </a:solidFill>
                <a:latin typeface="DM Sans" pitchFamily="34" charset="0"/>
                <a:ea typeface="DM Sans" pitchFamily="34" charset="-122"/>
                <a:cs typeface="DM Sans" pitchFamily="34" charset="-120"/>
              </a:rPr>
              <a:t>Band-reject and adaptive notch filters.</a:t>
            </a:r>
            <a:endParaRPr lang="en-US" sz="1500" dirty="0"/>
          </a:p>
        </p:txBody>
      </p:sp>
      <p:sp>
        <p:nvSpPr>
          <p:cNvPr id="9" name="Text 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10" name="Text 8"/>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DM Sans" pitchFamily="34" charset="0"/>
                <a:ea typeface="DM Sans" pitchFamily="34" charset="-122"/>
                <a:cs typeface="DM Sans" pitchFamily="34" charset="-120"/>
              </a:rPr>
              <a:t>Important References</a:t>
            </a:r>
            <a:endParaRPr lang="en-US" sz="3600" dirty="0"/>
          </a:p>
        </p:txBody>
      </p:sp>
      <p:sp>
        <p:nvSpPr>
          <p:cNvPr id="3" name="Text 1"/>
          <p:cNvSpPr/>
          <p:nvPr/>
        </p:nvSpPr>
        <p:spPr>
          <a:xfrm>
            <a:off x="878840" y="1569721"/>
            <a:ext cx="10809732" cy="1767840"/>
          </a:xfrm>
          <a:prstGeom prst="rect">
            <a:avLst/>
          </a:prstGeom>
          <a:noFill/>
          <a:ln/>
        </p:spPr>
        <p:txBody>
          <a:bodyPr wrap="square" lIns="0" tIns="0" rIns="0" bIns="0" rtlCol="0" anchor="t">
            <a:normAutofit/>
          </a:bodyPr>
          <a:lstStyle/>
          <a:p>
            <a:pPr marL="187960" indent="-187960" algn="l">
              <a:lnSpc>
                <a:spcPts val="1960"/>
              </a:lnSpc>
              <a:buSzPct val="100000"/>
              <a:buFontTx/>
              <a:buAutoNum type="arabicPeriod"/>
            </a:pPr>
            <a:r>
              <a:rPr lang="en-US" sz="1400" dirty="0">
                <a:solidFill>
                  <a:srgbClr val="1F2A3A"/>
                </a:solidFill>
                <a:latin typeface="DM Sans" pitchFamily="34" charset="0"/>
                <a:ea typeface="DM Sans" pitchFamily="34" charset="-122"/>
                <a:cs typeface="DM Sans" pitchFamily="34" charset="-120"/>
              </a:rPr>
              <a:t>R. C. Gonzalez and R. E. Woods, Digital Image Processing, 4th ed. New York, NY, USA: Pearson, 2018.</a:t>
            </a:r>
            <a:endParaRPr lang="en-US" sz="1400" dirty="0"/>
          </a:p>
          <a:p>
            <a:pPr marL="187960" indent="-187960" algn="l">
              <a:lnSpc>
                <a:spcPts val="1960"/>
              </a:lnSpc>
              <a:buSzPct val="100000"/>
              <a:buFontTx/>
              <a:buAutoNum type="arabicPeriod"/>
            </a:pPr>
            <a:r>
              <a:rPr lang="en-US" sz="1400" dirty="0">
                <a:solidFill>
                  <a:srgbClr val="1F2A3A"/>
                </a:solidFill>
                <a:latin typeface="DM Sans" pitchFamily="34" charset="0"/>
                <a:ea typeface="DM Sans" pitchFamily="34" charset="-122"/>
                <a:cs typeface="DM Sans" pitchFamily="34" charset="-120"/>
              </a:rPr>
              <a:t>J. W. Cooley and J. W. Tukey, “An algorithm for the machine calculation of complex Fourier series,” Math. Comput., vol. 19, no. 90, pp. 297–301, 1965.</a:t>
            </a:r>
            <a:endParaRPr lang="en-US" sz="1400" dirty="0"/>
          </a:p>
          <a:p>
            <a:pPr marL="187960" indent="-187960" algn="l">
              <a:lnSpc>
                <a:spcPts val="1960"/>
              </a:lnSpc>
              <a:buSzPct val="100000"/>
              <a:buFontTx/>
              <a:buAutoNum type="arabicPeriod"/>
            </a:pPr>
            <a:r>
              <a:rPr lang="en-US" sz="1400" dirty="0">
                <a:solidFill>
                  <a:srgbClr val="1F2A3A"/>
                </a:solidFill>
                <a:latin typeface="DM Sans" pitchFamily="34" charset="0"/>
                <a:ea typeface="DM Sans" pitchFamily="34" charset="-122"/>
                <a:cs typeface="DM Sans" pitchFamily="34" charset="-120"/>
              </a:rPr>
              <a:t>S. Butterworth, “On the theory of filter amplifiers,” Wireless Engineer, vol. 7, pp. 536–541, 1930.</a:t>
            </a:r>
            <a:endParaRPr lang="en-US" sz="1400" dirty="0"/>
          </a:p>
          <a:p>
            <a:pPr marL="187960" indent="-187960" algn="l">
              <a:lnSpc>
                <a:spcPts val="1960"/>
              </a:lnSpc>
              <a:buSzPct val="100000"/>
              <a:buFontTx/>
              <a:buAutoNum type="arabicPeriod"/>
            </a:pPr>
            <a:r>
              <a:rPr lang="en-US" sz="1400" dirty="0">
                <a:solidFill>
                  <a:srgbClr val="1F2A3A"/>
                </a:solidFill>
                <a:latin typeface="DM Sans" pitchFamily="34" charset="0"/>
                <a:ea typeface="DM Sans" pitchFamily="34" charset="-122"/>
                <a:cs typeface="DM Sans" pitchFamily="34" charset="-120"/>
              </a:rPr>
              <a:t>A. K. Jain, Fundamentals of Digital Image Processing. Englewood Cliffs, NJ, USA: Prentice Hall, </a:t>
            </a:r>
            <a:r>
              <a:rPr lang="en-US" sz="1400">
                <a:solidFill>
                  <a:srgbClr val="1F2A3A"/>
                </a:solidFill>
                <a:latin typeface="DM Sans" pitchFamily="34" charset="0"/>
                <a:ea typeface="DM Sans" pitchFamily="34" charset="-122"/>
                <a:cs typeface="DM Sans" pitchFamily="34" charset="-120"/>
              </a:rPr>
              <a:t>1989.</a:t>
            </a:r>
            <a:endParaRPr lang="en-US" sz="1400" dirty="0"/>
          </a:p>
        </p:txBody>
      </p:sp>
      <p:sp>
        <p:nvSpPr>
          <p:cNvPr id="4" name="Text 2"/>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36B"/>
                </a:solidFill>
                <a:latin typeface="DM Sans" pitchFamily="34" charset="0"/>
                <a:ea typeface="DM Sans" pitchFamily="34" charset="-122"/>
                <a:cs typeface="DM Sans" pitchFamily="34" charset="-120"/>
              </a:rPr>
              <a:t>Notch Filters for Periodic Noise Removal</a:t>
            </a:r>
            <a:endParaRPr lang="en-US" sz="1200" dirty="0"/>
          </a:p>
        </p:txBody>
      </p:sp>
      <p:sp>
        <p:nvSpPr>
          <p:cNvPr id="5" name="Text 3"/>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36B"/>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390142"/>
            <a:ext cx="10883392" cy="27432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3" name="Text 1"/>
          <p:cNvSpPr>
            <a:spLocks noGrp="1"/>
          </p:cNvSpPr>
          <p:nvPr>
            <p:ph type="title"/>
          </p:nvPr>
        </p:nvSpPr>
        <p:spPr>
          <a:xfrm>
            <a:off x="812800" y="2842258"/>
            <a:ext cx="10883392" cy="1092200"/>
          </a:xfrm>
          <a:prstGeom prst="rect">
            <a:avLst/>
          </a:prstGeom>
          <a:noFill/>
          <a:ln/>
        </p:spPr>
        <p:txBody>
          <a:bodyPr wrap="square" lIns="0" tIns="0" rIns="0" bIns="0" rtlCol="0" anchor="t">
            <a:normAutofit/>
          </a:bodyPr>
          <a:lstStyle/>
          <a:p>
            <a:pPr marL="0" indent="0" algn="l">
              <a:lnSpc>
                <a:spcPts val="8400"/>
              </a:lnSpc>
              <a:buNone/>
            </a:pPr>
            <a:r>
              <a:rPr lang="en-US" sz="8000" b="1" i="0" dirty="0">
                <a:solidFill>
                  <a:srgbClr val="F5F3EE"/>
                </a:solidFill>
                <a:latin typeface="DM Sans" pitchFamily="34" charset="0"/>
                <a:ea typeface="DM Sans" pitchFamily="34" charset="-122"/>
                <a:cs typeface="DM Sans" pitchFamily="34" charset="-120"/>
              </a:rPr>
              <a:t>Thank You</a:t>
            </a:r>
            <a:endParaRPr lang="en-US" sz="8000" dirty="0"/>
          </a:p>
        </p:txBody>
      </p:sp>
      <p:sp>
        <p:nvSpPr>
          <p:cNvPr id="4" name="Text 2"/>
          <p:cNvSpPr/>
          <p:nvPr/>
        </p:nvSpPr>
        <p:spPr>
          <a:xfrm>
            <a:off x="812800" y="4112258"/>
            <a:ext cx="10883392" cy="2223228"/>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9B6C6"/>
                </a:solidFill>
                <a:latin typeface="DM Sans" pitchFamily="34" charset="0"/>
                <a:ea typeface="DM Sans" pitchFamily="34" charset="-122"/>
                <a:cs typeface="DM Sans" pitchFamily="34" charset="-120"/>
              </a:rPr>
              <a:t>TEAM MEMBERS:</a:t>
            </a:r>
          </a:p>
          <a:p>
            <a:pPr marL="0" indent="0" algn="l">
              <a:lnSpc>
                <a:spcPts val="2800"/>
              </a:lnSpc>
              <a:buNone/>
            </a:pPr>
            <a:r>
              <a:rPr lang="en-US" sz="2000" dirty="0">
                <a:solidFill>
                  <a:srgbClr val="A9B6C6"/>
                </a:solidFill>
                <a:latin typeface="DM Sans" pitchFamily="34" charset="0"/>
                <a:ea typeface="DM Sans" pitchFamily="34" charset="-122"/>
                <a:cs typeface="DM Sans" pitchFamily="34" charset="-120"/>
              </a:rPr>
              <a:t>ROHIT SHAW (23BCE7212)</a:t>
            </a:r>
          </a:p>
          <a:p>
            <a:pPr marL="0" indent="0" algn="l">
              <a:lnSpc>
                <a:spcPts val="2800"/>
              </a:lnSpc>
              <a:buNone/>
            </a:pPr>
            <a:r>
              <a:rPr lang="en-US" sz="2000" dirty="0">
                <a:solidFill>
                  <a:srgbClr val="A9B6C6"/>
                </a:solidFill>
                <a:latin typeface="DM Sans" pitchFamily="34" charset="0"/>
                <a:ea typeface="DM Sans" pitchFamily="34" charset="-122"/>
                <a:cs typeface="DM Sans" pitchFamily="34" charset="-120"/>
              </a:rPr>
              <a:t>YASH BHARDWAJ (23BEC7036)</a:t>
            </a:r>
          </a:p>
          <a:p>
            <a:pPr marL="0" indent="0" algn="l">
              <a:lnSpc>
                <a:spcPts val="2800"/>
              </a:lnSpc>
              <a:buNone/>
            </a:pPr>
            <a:endParaRPr lang="en-US" sz="2000" dirty="0"/>
          </a:p>
        </p:txBody>
      </p:sp>
    </p:spTree>
  </p:cSld>
  <p:clrMapOvr>
    <a:masterClrMapping/>
  </p:clrMapOvr>
</p:sld>
</file>

<file path=ppt/theme/theme1.xml><?xml version="1.0" encoding="utf-8"?>
<a:theme xmlns:a="http://schemas.openxmlformats.org/drawingml/2006/main" name="Notch Filters for Periodic Noise Removal">
  <a:themeElements>
    <a:clrScheme name="Notch Filters for Periodic Noise Removal">
      <a:dk1>
        <a:srgbClr val="0F1B2D"/>
      </a:dk1>
      <a:lt1>
        <a:srgbClr val="F5F3EE"/>
      </a:lt1>
      <a:dk2>
        <a:srgbClr val="49515D"/>
      </a:dk2>
      <a:lt2>
        <a:srgbClr val="DEDDDB"/>
      </a:lt2>
      <a:accent1>
        <a:srgbClr val="1E7F74"/>
      </a:accent1>
      <a:accent2>
        <a:srgbClr val="5CC8B8"/>
      </a:accent2>
      <a:accent3>
        <a:srgbClr val="5B636B"/>
      </a:accent3>
      <a:accent4>
        <a:srgbClr val="3A4656"/>
      </a:accent4>
      <a:accent5>
        <a:srgbClr val="A9B6C6"/>
      </a:accent5>
      <a:accent6>
        <a:srgbClr val="9AA0A6"/>
      </a:accent6>
      <a:hlink>
        <a:srgbClr val="0563C1"/>
      </a:hlink>
      <a:folHlink>
        <a:srgbClr val="954F72"/>
      </a:folHlink>
    </a:clrScheme>
    <a:fontScheme name="Notch Filters for Periodic Noise Removal">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1741</Words>
  <Application>Microsoft Office PowerPoint</Application>
  <PresentationFormat>Widescreen</PresentationFormat>
  <Paragraphs>219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DM Sans</vt:lpstr>
      <vt:lpstr>JetBrains Mono</vt:lpstr>
      <vt:lpstr>Notch Filters for Periodic Noise Removal</vt:lpstr>
      <vt:lpstr>Periodic Noise Removal Using Notch Filters</vt:lpstr>
      <vt:lpstr>Introduction</vt:lpstr>
      <vt:lpstr>Problem Statement and Proposed Solution</vt:lpstr>
      <vt:lpstr>Literature Review (1 of 2)</vt:lpstr>
      <vt:lpstr>Literature Review (2 of 2)</vt:lpstr>
      <vt:lpstr>Methodology and Implementation</vt:lpstr>
      <vt:lpstr>Proposed Model Implementation Flow</vt:lpstr>
      <vt:lpstr>Notch Filter Equations</vt:lpstr>
      <vt:lpstr>Ideal Notch Filter</vt:lpstr>
      <vt:lpstr>Butterworth Notch Filter</vt:lpstr>
      <vt:lpstr>Gaussian Notch Filter</vt:lpstr>
      <vt:lpstr>All Three Filters, Same Image</vt:lpstr>
      <vt:lpstr>Key Observations and Comparison</vt:lpstr>
      <vt:lpstr>Conclusion and Future Work</vt:lpstr>
      <vt:lpstr>Important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Notch Filters for Periodic Noise Removal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ROHIT SHAW</cp:lastModifiedBy>
  <cp:revision>1</cp:revision>
  <dcterms:created xsi:type="dcterms:W3CDTF">2026-10-26T13:43:33Z</dcterms:created>
  <dcterms:modified xsi:type="dcterms:W3CDTF">2026-10-26T19:44:36Z</dcterms:modified>
</cp:coreProperties>
</file>